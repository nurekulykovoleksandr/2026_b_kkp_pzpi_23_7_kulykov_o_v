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71" r:id="rId4"/>
    <p:sldId id="272" r:id="rId5"/>
    <p:sldId id="258" r:id="rId6"/>
    <p:sldId id="273" r:id="rId7"/>
    <p:sldId id="259" r:id="rId8"/>
    <p:sldId id="260" r:id="rId9"/>
    <p:sldId id="274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5143500" type="screen16x9"/>
  <p:notesSz cx="6858000" cy="9144000"/>
  <p:embeddedFontLst>
    <p:embeddedFont>
      <p:font typeface="Economica" panose="020B0604020202020204" charset="0"/>
      <p:regular r:id="rId22"/>
      <p:bold r:id="rId23"/>
      <p:italic r:id="rId24"/>
      <p:boldItalic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9008" y="685400"/>
            <a:ext cx="3672171" cy="1028903"/>
          </a:xfrm>
        </p:spPr>
        <p:txBody>
          <a:bodyPr>
            <a:noAutofit/>
          </a:bodyPr>
          <a:lstStyle/>
          <a:p>
            <a:r>
              <a:rPr sz="1600" dirty="0" err="1"/>
              <a:t>Вебмаркетплейс</a:t>
            </a:r>
            <a:r>
              <a:rPr sz="1600" dirty="0"/>
              <a:t> «Basik» </a:t>
            </a:r>
            <a:r>
              <a:rPr sz="1600" dirty="0" err="1"/>
              <a:t>для</a:t>
            </a:r>
            <a:r>
              <a:rPr sz="1600" dirty="0"/>
              <a:t> </a:t>
            </a:r>
            <a:r>
              <a:rPr sz="1600" dirty="0" err="1"/>
              <a:t>погодинної</a:t>
            </a:r>
            <a:r>
              <a:rPr sz="1600" dirty="0"/>
              <a:t> </a:t>
            </a:r>
            <a:r>
              <a:rPr sz="1600" dirty="0" err="1"/>
              <a:t>оренди</a:t>
            </a:r>
            <a:r>
              <a:rPr sz="1600" dirty="0"/>
              <a:t> </a:t>
            </a:r>
            <a:r>
              <a:rPr sz="1600" dirty="0" err="1"/>
              <a:t>приватних</a:t>
            </a:r>
            <a:r>
              <a:rPr sz="1600" dirty="0"/>
              <a:t> </a:t>
            </a:r>
            <a:r>
              <a:rPr sz="1600" dirty="0" err="1"/>
              <a:t>простір-локацій</a:t>
            </a:r>
            <a:endParaRPr sz="1600" dirty="0"/>
          </a:p>
        </p:txBody>
      </p:sp>
      <p:pic>
        <p:nvPicPr>
          <p:cNvPr id="4" name="Google Shape;64;p13">
            <a:extLst>
              <a:ext uri="{FF2B5EF4-FFF2-40B4-BE49-F238E27FC236}">
                <a16:creationId xmlns:a16="http://schemas.microsoft.com/office/drawing/2014/main" id="{78E4698F-A980-2F02-F32E-813284F80DC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65;p13">
            <a:extLst>
              <a:ext uri="{FF2B5EF4-FFF2-40B4-BE49-F238E27FC236}">
                <a16:creationId xmlns:a16="http://schemas.microsoft.com/office/drawing/2014/main" id="{3F3B0DB2-C423-DE32-2106-4801450D7C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6;p13">
            <a:extLst>
              <a:ext uri="{FF2B5EF4-FFF2-40B4-BE49-F238E27FC236}">
                <a16:creationId xmlns:a16="http://schemas.microsoft.com/office/drawing/2014/main" id="{F2BCF409-1FED-92E3-664E-87F6E4EDF93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CAA98CC7-4549-6A72-6CE1-E8511B0D1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579" y="1664362"/>
            <a:ext cx="3054600" cy="852094"/>
          </a:xfrm>
        </p:spPr>
        <p:txBody>
          <a:bodyPr>
            <a:noAutofit/>
          </a:bodyPr>
          <a:lstStyle/>
          <a:p>
            <a:pPr algn="r"/>
            <a:r>
              <a:rPr lang="uk-UA" sz="1600" dirty="0"/>
              <a:t>Куликов Олександр Віталійович</a:t>
            </a:r>
            <a:br>
              <a:rPr lang="uk-UA" sz="1600" dirty="0"/>
            </a:br>
            <a:r>
              <a:rPr lang="uk-UA" sz="1600" dirty="0"/>
              <a:t>ПЗПІ-23-7</a:t>
            </a:r>
            <a:endParaRPr lang="ru-UA" sz="1600" dirty="0"/>
          </a:p>
        </p:txBody>
      </p:sp>
      <p:sp>
        <p:nvSpPr>
          <p:cNvPr id="11" name="Subtitle 8">
            <a:extLst>
              <a:ext uri="{FF2B5EF4-FFF2-40B4-BE49-F238E27FC236}">
                <a16:creationId xmlns:a16="http://schemas.microsoft.com/office/drawing/2014/main" id="{378FEA1B-87FB-BD7B-884A-E08A7BBA72E3}"/>
              </a:ext>
            </a:extLst>
          </p:cNvPr>
          <p:cNvSpPr txBox="1">
            <a:spLocks/>
          </p:cNvSpPr>
          <p:nvPr/>
        </p:nvSpPr>
        <p:spPr>
          <a:xfrm>
            <a:off x="3213047" y="2503000"/>
            <a:ext cx="3054600" cy="1126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r"/>
            <a:r>
              <a:rPr lang="uk-UA" sz="1600" dirty="0"/>
              <a:t>Керівник:</a:t>
            </a:r>
          </a:p>
          <a:p>
            <a:pPr algn="r"/>
            <a:r>
              <a:rPr lang="uk-UA" sz="1600" dirty="0"/>
              <a:t>ст. викл. каф. ПІ</a:t>
            </a:r>
          </a:p>
          <a:p>
            <a:pPr algn="r"/>
            <a:r>
              <a:rPr lang="uk-UA" sz="1600" dirty="0"/>
              <a:t>Катерина Вікторівна Зибіна</a:t>
            </a:r>
            <a:endParaRPr lang="ru-UA" sz="1600" dirty="0"/>
          </a:p>
        </p:txBody>
      </p:sp>
      <p:sp>
        <p:nvSpPr>
          <p:cNvPr id="3" name="Subtitle 8">
            <a:extLst>
              <a:ext uri="{FF2B5EF4-FFF2-40B4-BE49-F238E27FC236}">
                <a16:creationId xmlns:a16="http://schemas.microsoft.com/office/drawing/2014/main" id="{A28C3D31-DACA-7E71-E2F4-EA7865CF0102}"/>
              </a:ext>
            </a:extLst>
          </p:cNvPr>
          <p:cNvSpPr txBox="1">
            <a:spLocks/>
          </p:cNvSpPr>
          <p:nvPr/>
        </p:nvSpPr>
        <p:spPr>
          <a:xfrm>
            <a:off x="3416464" y="4485600"/>
            <a:ext cx="2311071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 sz="1800" dirty="0"/>
              <a:t>10 червня 2026</a:t>
            </a:r>
            <a:endParaRPr lang="ru-UA" sz="1800" dirty="0"/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D048F3D-00AB-09E3-BF37-A8C0CF3F3F7D}"/>
              </a:ext>
            </a:extLst>
          </p:cNvPr>
          <p:cNvSpPr txBox="1">
            <a:spLocks/>
          </p:cNvSpPr>
          <p:nvPr/>
        </p:nvSpPr>
        <p:spPr>
          <a:xfrm>
            <a:off x="3209515" y="3359329"/>
            <a:ext cx="3054600" cy="1126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r"/>
            <a:r>
              <a:rPr lang="uk-UA" sz="1600" dirty="0"/>
              <a:t>Консультант:</a:t>
            </a:r>
          </a:p>
          <a:p>
            <a:pPr algn="r"/>
            <a:r>
              <a:rPr lang="uk-UA" sz="1600" dirty="0"/>
              <a:t>ст. викл. каф. ПІ</a:t>
            </a:r>
          </a:p>
          <a:p>
            <a:pPr algn="r"/>
            <a:r>
              <a:rPr lang="uk-UA" sz="1600" dirty="0"/>
              <a:t>Олійник Олександр</a:t>
            </a:r>
            <a:endParaRPr lang="ru-UA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2800" dirty="0"/>
              <a:t>Мета та актуальність роботи</a:t>
            </a:r>
            <a:endParaRPr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225224"/>
            <a:ext cx="8520600" cy="3688901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200">
                <a:latin typeface="Arial"/>
              </a:defRPr>
            </a:pPr>
            <a:r>
              <a:rPr lang="ru-RU" sz="1400" dirty="0"/>
              <a:t>Мета проєкту: розробка клієнт-серверного модуля управління користувачами та контентом оголошень у складі маркетплейсу «Basik»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Arial"/>
              </a:defRPr>
            </a:pPr>
            <a:r>
              <a:rPr lang="uk-UA" dirty="0"/>
              <a:t>Актуальність роботи:</a:t>
            </a:r>
            <a:r>
              <a:rPr lang="ru-UA" dirty="0"/>
              <a:t> </a:t>
            </a:r>
            <a:r>
              <a:rPr lang="uk-UA" dirty="0"/>
              <a:t>Стрімке зростання попиту на погодинну оренду локацій (коворкінги, фотостудії, конференц-зали, майданчики) в Україні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Arial"/>
              </a:defRPr>
            </a:pPr>
            <a:r>
              <a:rPr lang="uk-UA" dirty="0"/>
              <a:t>Брак вітчизняних автоматизованих платформ для швидкого додавання власниками своїх об'єктів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Arial"/>
              </a:defRPr>
            </a:pPr>
            <a:r>
              <a:rPr lang="uk-UA" dirty="0"/>
              <a:t>Потреба у безпечній та швидкій безпарольній автентифікації користувачів</a:t>
            </a:r>
          </a:p>
          <a:p>
            <a:pPr marL="596900" lvl="1" indent="0">
              <a:spcAft>
                <a:spcPts val="400"/>
              </a:spcAft>
              <a:buNone/>
              <a:defRPr sz="1200">
                <a:latin typeface="Arial"/>
              </a:defRPr>
            </a:pPr>
            <a:endParaRPr lang="uk-UA" dirty="0"/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200">
                <a:latin typeface="Arial"/>
              </a:defRPr>
            </a:pPr>
            <a:r>
              <a:rPr lang="uk-UA" sz="1400" dirty="0"/>
              <a:t>Об'єкт дослідження: вебмаркетплейси простір-послуг та моделі керування користувацьким контентом</a:t>
            </a:r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200">
                <a:latin typeface="Arial"/>
              </a:defRPr>
            </a:pPr>
            <a:r>
              <a:rPr lang="uk-UA" sz="1400" dirty="0"/>
              <a:t>Предмет дослідження: програмні рішення безпечної ідентифікації та ведення оголошень з календарем доступності</a:t>
            </a:r>
          </a:p>
        </p:txBody>
      </p:sp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D1C4E089-313E-0518-5418-BF3C5AD6B84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2773BE-71B0-FB9F-6EE1-7DDD53EE1BD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00E9-70EF-486B-A6C3-BE2015C02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2800" dirty="0"/>
              <a:t>Аналіз аналогів програмного забезпечення</a:t>
            </a:r>
            <a:endParaRPr lang="ru-UA" sz="2800" dirty="0"/>
          </a:p>
        </p:txBody>
      </p:sp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BE356A33-A742-7CB8-6328-9DC1FC00EDA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6EFF074-03DF-C5BC-D9F0-E3A35230BD4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335C5F-A376-6304-E22A-AE8C21150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386" y="1130197"/>
            <a:ext cx="2920495" cy="14781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9781F2-49BE-0160-C5D9-EF1AC45A6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930" y="3026242"/>
            <a:ext cx="2920495" cy="14702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52ED7A-B06F-2813-7E03-0E6AA7663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632" y="2940151"/>
            <a:ext cx="2860474" cy="1437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204FC8-99A1-392B-87A5-25AA242734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1931" y="1174975"/>
            <a:ext cx="2920495" cy="14440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AA6C3D3-73B5-8C38-ADD5-2BF6243CB830}"/>
              </a:ext>
            </a:extLst>
          </p:cNvPr>
          <p:cNvSpPr txBox="1"/>
          <p:nvPr/>
        </p:nvSpPr>
        <p:spPr>
          <a:xfrm>
            <a:off x="2690415" y="2608300"/>
            <a:ext cx="702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Airbnb</a:t>
            </a:r>
            <a:endParaRPr lang="ru-U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A8A397-85DA-5277-55C1-883643DADEAA}"/>
              </a:ext>
            </a:extLst>
          </p:cNvPr>
          <p:cNvSpPr txBox="1"/>
          <p:nvPr/>
        </p:nvSpPr>
        <p:spPr>
          <a:xfrm>
            <a:off x="2471766" y="445246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Booking.com</a:t>
            </a:r>
            <a:endParaRPr lang="ru-U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CACBF2-A287-F09A-81BA-3F8AC9283496}"/>
              </a:ext>
            </a:extLst>
          </p:cNvPr>
          <p:cNvSpPr txBox="1"/>
          <p:nvPr/>
        </p:nvSpPr>
        <p:spPr>
          <a:xfrm>
            <a:off x="5931844" y="2608714"/>
            <a:ext cx="1040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Peerspace</a:t>
            </a:r>
            <a:endParaRPr lang="ru-U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D4A0FE-D548-CD0A-9B62-27EB3CB46383}"/>
              </a:ext>
            </a:extLst>
          </p:cNvPr>
          <p:cNvSpPr txBox="1"/>
          <p:nvPr/>
        </p:nvSpPr>
        <p:spPr>
          <a:xfrm>
            <a:off x="6067197" y="4452460"/>
            <a:ext cx="8531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Swimply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207500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6D951-C9F6-4959-DDC2-92B498DFB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2800" dirty="0"/>
              <a:t>Постановка задачі: Завдання розробки</a:t>
            </a:r>
            <a:endParaRPr lang="ru-UA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C7F43-5B3E-8B45-AB91-7AB48F2EC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200">
                <a:latin typeface="Arial"/>
              </a:defRPr>
            </a:pPr>
            <a:r>
              <a:rPr lang="uk-UA" sz="1400" dirty="0"/>
              <a:t>Створення документної моделі даних </a:t>
            </a:r>
            <a:r>
              <a:rPr lang="en-US" sz="1400" dirty="0"/>
              <a:t>MongoDB (</a:t>
            </a:r>
            <a:r>
              <a:rPr lang="uk-UA" sz="1400" dirty="0"/>
              <a:t>користувачі, оголошення, календар)</a:t>
            </a:r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200">
                <a:latin typeface="Arial"/>
              </a:defRPr>
            </a:pPr>
            <a:r>
              <a:rPr lang="uk-UA" sz="1400" dirty="0"/>
              <a:t>Реалізація </a:t>
            </a:r>
            <a:r>
              <a:rPr lang="en-US" sz="1400" dirty="0"/>
              <a:t>API </a:t>
            </a:r>
            <a:r>
              <a:rPr lang="uk-UA" sz="1400" dirty="0"/>
              <a:t>для безпарольного входу (генерація кодів, </a:t>
            </a:r>
            <a:r>
              <a:rPr lang="en-US" sz="1400" dirty="0"/>
              <a:t>SMTP Brevo) </a:t>
            </a:r>
            <a:r>
              <a:rPr lang="uk-UA" sz="1400" dirty="0"/>
              <a:t>та </a:t>
            </a:r>
            <a:r>
              <a:rPr lang="en-US" sz="1400" dirty="0"/>
              <a:t>Google OAuth</a:t>
            </a:r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200">
                <a:latin typeface="Arial"/>
              </a:defRPr>
            </a:pPr>
            <a:r>
              <a:rPr lang="uk-UA" sz="1400" dirty="0"/>
              <a:t>Реалізація </a:t>
            </a:r>
            <a:r>
              <a:rPr lang="en-US" sz="1400" dirty="0"/>
              <a:t>JWT-</a:t>
            </a:r>
            <a:r>
              <a:rPr lang="uk-UA" sz="1400" dirty="0"/>
              <a:t>автентифікації та захисту маршрутів на бекенді через </a:t>
            </a:r>
            <a:r>
              <a:rPr lang="en-US" sz="1400" dirty="0"/>
              <a:t>middleware protect/</a:t>
            </a:r>
            <a:r>
              <a:rPr lang="en-US" sz="1400" dirty="0" err="1"/>
              <a:t>checkAdmin</a:t>
            </a:r>
            <a:endParaRPr lang="en-US" sz="1400" dirty="0"/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200">
                <a:latin typeface="Arial"/>
              </a:defRPr>
            </a:pPr>
            <a:r>
              <a:rPr lang="uk-UA" sz="1400" dirty="0"/>
              <a:t>Реалізація кабінету власника (створення оголошень, фото, </a:t>
            </a:r>
            <a:r>
              <a:rPr lang="en-US" sz="1400" dirty="0" err="1"/>
              <a:t>Nominatim</a:t>
            </a:r>
            <a:r>
              <a:rPr lang="en-US" sz="1400" dirty="0"/>
              <a:t> API)</a:t>
            </a:r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200">
                <a:latin typeface="Arial"/>
              </a:defRPr>
            </a:pPr>
            <a:r>
              <a:rPr lang="uk-UA" sz="1400" dirty="0"/>
              <a:t>Розробка адаптивного клієнтського інтерфейсу (</a:t>
            </a:r>
            <a:r>
              <a:rPr lang="en-US" sz="1400" dirty="0"/>
              <a:t>React, Tailwind CSS)</a:t>
            </a:r>
          </a:p>
        </p:txBody>
      </p:sp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ECE54BB0-F321-46D6-1E46-6A1B9EAFD3B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035FFC-BE37-F4EB-E55D-AF62402FEB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55596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Функціональні</a:t>
            </a:r>
            <a:r>
              <a:rPr sz="2800" dirty="0"/>
              <a:t> </a:t>
            </a:r>
            <a:r>
              <a:rPr sz="2800" dirty="0" err="1"/>
              <a:t>вимоги</a:t>
            </a:r>
            <a:r>
              <a:rPr sz="2800" dirty="0"/>
              <a:t> </a:t>
            </a:r>
            <a:r>
              <a:rPr sz="2800" dirty="0" err="1"/>
              <a:t>до</a:t>
            </a:r>
            <a:r>
              <a:rPr sz="2800" dirty="0"/>
              <a:t> </a:t>
            </a:r>
            <a:r>
              <a:rPr sz="2800" dirty="0" err="1"/>
              <a:t>модуля</a:t>
            </a:r>
            <a:endParaRPr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400">
                <a:latin typeface="Arial"/>
              </a:defRPr>
            </a:pPr>
            <a:r>
              <a:rPr dirty="0" err="1"/>
              <a:t>Реєстрація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вхід</a:t>
            </a:r>
            <a:r>
              <a:rPr dirty="0"/>
              <a:t>: Введення </a:t>
            </a:r>
            <a:r>
              <a:rPr dirty="0" err="1"/>
              <a:t>імені</a:t>
            </a:r>
            <a:r>
              <a:rPr dirty="0"/>
              <a:t>, email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ролі</a:t>
            </a:r>
            <a:r>
              <a:rPr dirty="0"/>
              <a:t>. </a:t>
            </a:r>
            <a:r>
              <a:rPr dirty="0" err="1"/>
              <a:t>Одноразовий</a:t>
            </a:r>
            <a:r>
              <a:rPr dirty="0"/>
              <a:t> </a:t>
            </a:r>
            <a:r>
              <a:rPr dirty="0" err="1"/>
              <a:t>код</a:t>
            </a:r>
            <a:r>
              <a:rPr dirty="0"/>
              <a:t> </a:t>
            </a:r>
            <a:r>
              <a:rPr dirty="0" err="1"/>
              <a:t>діє</a:t>
            </a:r>
            <a:r>
              <a:rPr dirty="0"/>
              <a:t> 60 </a:t>
            </a:r>
            <a:r>
              <a:rPr dirty="0" err="1"/>
              <a:t>хв</a:t>
            </a:r>
            <a:r>
              <a:rPr dirty="0"/>
              <a:t>. </a:t>
            </a:r>
            <a:r>
              <a:rPr dirty="0" err="1"/>
              <a:t>Вхід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Google OAuth з </a:t>
            </a:r>
            <a:r>
              <a:rPr dirty="0" err="1"/>
              <a:t>автоматичним</a:t>
            </a:r>
            <a:r>
              <a:rPr dirty="0"/>
              <a:t> </a:t>
            </a:r>
            <a:r>
              <a:rPr dirty="0" err="1"/>
              <a:t>зв'язуванням</a:t>
            </a:r>
            <a:r>
              <a:rPr dirty="0"/>
              <a:t> </a:t>
            </a:r>
            <a:r>
              <a:rPr dirty="0" err="1"/>
              <a:t>профілів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400">
                <a:latin typeface="Arial"/>
              </a:defRPr>
            </a:pPr>
            <a:r>
              <a:rPr dirty="0" err="1"/>
              <a:t>Профілі</a:t>
            </a:r>
            <a:r>
              <a:rPr dirty="0"/>
              <a:t>: </a:t>
            </a:r>
            <a:r>
              <a:rPr dirty="0" err="1"/>
              <a:t>Перегляд</a:t>
            </a:r>
            <a:r>
              <a:rPr dirty="0"/>
              <a:t> GET /</a:t>
            </a:r>
            <a:r>
              <a:rPr dirty="0" err="1"/>
              <a:t>api</a:t>
            </a:r>
            <a:r>
              <a:rPr dirty="0"/>
              <a:t>/users/me (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хешу</a:t>
            </a:r>
            <a:r>
              <a:rPr dirty="0"/>
              <a:t> </a:t>
            </a:r>
            <a:r>
              <a:rPr dirty="0" err="1"/>
              <a:t>пароля</a:t>
            </a:r>
            <a:r>
              <a:rPr dirty="0"/>
              <a:t>)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редагування</a:t>
            </a:r>
            <a:r>
              <a:rPr dirty="0"/>
              <a:t> PATCH /</a:t>
            </a:r>
            <a:r>
              <a:rPr dirty="0" err="1"/>
              <a:t>api</a:t>
            </a:r>
            <a:r>
              <a:rPr dirty="0"/>
              <a:t>/users/me (</a:t>
            </a:r>
            <a:r>
              <a:rPr dirty="0" err="1"/>
              <a:t>ім'я</a:t>
            </a:r>
            <a:r>
              <a:rPr dirty="0"/>
              <a:t>, </a:t>
            </a:r>
            <a:r>
              <a:rPr dirty="0" err="1"/>
              <a:t>телефон</a:t>
            </a:r>
            <a:r>
              <a:rPr dirty="0"/>
              <a:t>, </a:t>
            </a:r>
            <a:r>
              <a:rPr dirty="0" err="1"/>
              <a:t>стать</a:t>
            </a:r>
            <a:r>
              <a:rPr dirty="0"/>
              <a:t>, </a:t>
            </a:r>
            <a:r>
              <a:rPr dirty="0" err="1"/>
              <a:t>дата</a:t>
            </a:r>
            <a:r>
              <a:rPr dirty="0"/>
              <a:t> </a:t>
            </a:r>
            <a:r>
              <a:rPr dirty="0" err="1"/>
              <a:t>народження</a:t>
            </a:r>
            <a:r>
              <a:rPr dirty="0"/>
              <a:t>).</a:t>
            </a:r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400">
                <a:latin typeface="Arial"/>
              </a:defRPr>
            </a:pPr>
            <a:r>
              <a:rPr dirty="0" err="1"/>
              <a:t>Створення</a:t>
            </a:r>
            <a:r>
              <a:rPr dirty="0"/>
              <a:t> </a:t>
            </a:r>
            <a:r>
              <a:rPr dirty="0" err="1"/>
              <a:t>оголошень</a:t>
            </a:r>
            <a:r>
              <a:rPr dirty="0"/>
              <a:t>: </a:t>
            </a:r>
            <a:r>
              <a:rPr dirty="0" err="1"/>
              <a:t>Форма</a:t>
            </a:r>
            <a:r>
              <a:rPr dirty="0"/>
              <a:t> з </a:t>
            </a:r>
            <a:r>
              <a:rPr dirty="0" err="1"/>
              <a:t>описом</a:t>
            </a:r>
            <a:r>
              <a:rPr dirty="0"/>
              <a:t>, </a:t>
            </a:r>
            <a:r>
              <a:rPr dirty="0" err="1"/>
              <a:t>ціною</a:t>
            </a:r>
            <a:r>
              <a:rPr dirty="0"/>
              <a:t>, </a:t>
            </a:r>
            <a:r>
              <a:rPr dirty="0" err="1"/>
              <a:t>зручностями</a:t>
            </a:r>
            <a:r>
              <a:rPr dirty="0"/>
              <a:t>, </a:t>
            </a:r>
            <a:r>
              <a:rPr dirty="0" err="1"/>
              <a:t>правилами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завантаженням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10 </a:t>
            </a:r>
            <a:r>
              <a:rPr dirty="0" err="1"/>
              <a:t>фотографій</a:t>
            </a:r>
            <a:r>
              <a:rPr dirty="0"/>
              <a:t> (Multer).</a:t>
            </a:r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400">
                <a:latin typeface="Arial"/>
              </a:defRPr>
            </a:pPr>
            <a:r>
              <a:rPr dirty="0" err="1"/>
              <a:t>Календар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ціноутворення</a:t>
            </a:r>
            <a:r>
              <a:rPr dirty="0"/>
              <a:t>: </a:t>
            </a:r>
            <a:r>
              <a:rPr dirty="0" err="1"/>
              <a:t>Налаштування</a:t>
            </a:r>
            <a:r>
              <a:rPr dirty="0"/>
              <a:t> </a:t>
            </a:r>
            <a:r>
              <a:rPr dirty="0" err="1"/>
              <a:t>тижневого</a:t>
            </a:r>
            <a:r>
              <a:rPr dirty="0"/>
              <a:t> </a:t>
            </a:r>
            <a:r>
              <a:rPr dirty="0" err="1"/>
              <a:t>розкладу</a:t>
            </a:r>
            <a:r>
              <a:rPr dirty="0"/>
              <a:t> </a:t>
            </a:r>
            <a:r>
              <a:rPr dirty="0" err="1"/>
              <a:t>доступності</a:t>
            </a:r>
            <a:r>
              <a:rPr dirty="0"/>
              <a:t> (</a:t>
            </a:r>
            <a:r>
              <a:rPr dirty="0" err="1"/>
              <a:t>години</a:t>
            </a:r>
            <a:r>
              <a:rPr dirty="0"/>
              <a:t> </a:t>
            </a:r>
            <a:r>
              <a:rPr dirty="0" err="1"/>
              <a:t>роботи</a:t>
            </a:r>
            <a:r>
              <a:rPr dirty="0"/>
              <a:t>)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ціни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годину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400">
                <a:latin typeface="Arial"/>
              </a:defRPr>
            </a:pPr>
            <a:r>
              <a:rPr dirty="0" err="1"/>
              <a:t>Модерація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контроль</a:t>
            </a:r>
            <a:r>
              <a:rPr dirty="0"/>
              <a:t> </a:t>
            </a:r>
            <a:r>
              <a:rPr dirty="0" err="1"/>
              <a:t>доступу</a:t>
            </a:r>
            <a:r>
              <a:rPr dirty="0"/>
              <a:t>: </a:t>
            </a:r>
            <a:r>
              <a:rPr dirty="0" err="1"/>
              <a:t>Оголошення</a:t>
            </a:r>
            <a:r>
              <a:rPr dirty="0"/>
              <a:t> </a:t>
            </a:r>
            <a:r>
              <a:rPr dirty="0" err="1"/>
              <a:t>потребують</a:t>
            </a:r>
            <a:r>
              <a:rPr dirty="0"/>
              <a:t> </a:t>
            </a:r>
            <a:r>
              <a:rPr dirty="0" err="1"/>
              <a:t>схвалення</a:t>
            </a:r>
            <a:r>
              <a:rPr dirty="0"/>
              <a:t> Admin (</a:t>
            </a:r>
            <a:r>
              <a:rPr dirty="0" err="1"/>
              <a:t>isApproved</a:t>
            </a:r>
            <a:r>
              <a:rPr dirty="0"/>
              <a:t> = false). </a:t>
            </a:r>
            <a:r>
              <a:rPr dirty="0" err="1"/>
              <a:t>Заблоковані</a:t>
            </a:r>
            <a:r>
              <a:rPr dirty="0"/>
              <a:t> </a:t>
            </a:r>
            <a:r>
              <a:rPr dirty="0" err="1"/>
              <a:t>користувачі</a:t>
            </a:r>
            <a:r>
              <a:rPr dirty="0"/>
              <a:t> (</a:t>
            </a:r>
            <a:r>
              <a:rPr dirty="0" err="1"/>
              <a:t>isBlocked</a:t>
            </a:r>
            <a:r>
              <a:rPr dirty="0"/>
              <a:t> = true) </a:t>
            </a:r>
            <a:r>
              <a:rPr dirty="0" err="1"/>
              <a:t>втрачають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.</a:t>
            </a:r>
          </a:p>
        </p:txBody>
      </p:sp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EBDA2E28-7F88-D8EE-0C1A-5EDCB4D02D1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096C1A-2FA8-75DC-ACE1-4FB1F1BC06A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Засоби</a:t>
            </a:r>
            <a:r>
              <a:rPr sz="2800" dirty="0"/>
              <a:t> </a:t>
            </a:r>
            <a:r>
              <a:rPr sz="2800" dirty="0" err="1"/>
              <a:t>та</a:t>
            </a:r>
            <a:r>
              <a:rPr sz="2800" dirty="0"/>
              <a:t> </a:t>
            </a:r>
            <a:r>
              <a:rPr sz="2800" dirty="0" err="1"/>
              <a:t>технології</a:t>
            </a:r>
            <a:r>
              <a:rPr sz="2800" dirty="0"/>
              <a:t> </a:t>
            </a:r>
            <a:r>
              <a:rPr sz="2800" dirty="0" err="1"/>
              <a:t>розробки</a:t>
            </a:r>
            <a:endParaRPr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200">
                <a:latin typeface="Arial"/>
              </a:defRPr>
            </a:pPr>
            <a:r>
              <a:rPr dirty="0" err="1"/>
              <a:t>Клієнтська</a:t>
            </a:r>
            <a:r>
              <a:rPr dirty="0"/>
              <a:t> </a:t>
            </a:r>
            <a:r>
              <a:rPr dirty="0" err="1"/>
              <a:t>частина</a:t>
            </a:r>
            <a:r>
              <a:rPr dirty="0"/>
              <a:t> (Frontend):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Arial"/>
              </a:defRPr>
            </a:pPr>
            <a:r>
              <a:rPr sz="1400" dirty="0" err="1"/>
              <a:t>Мова</a:t>
            </a:r>
            <a:r>
              <a:rPr sz="1400" dirty="0"/>
              <a:t> </a:t>
            </a:r>
            <a:r>
              <a:rPr sz="1400" dirty="0" err="1"/>
              <a:t>програмування</a:t>
            </a:r>
            <a:r>
              <a:rPr sz="1400" dirty="0"/>
              <a:t>: JavaScript (ES6+)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Arial"/>
              </a:defRPr>
            </a:pPr>
            <a:r>
              <a:rPr sz="1400" dirty="0" err="1"/>
              <a:t>Бібліотека</a:t>
            </a:r>
            <a:r>
              <a:rPr sz="1400" dirty="0"/>
              <a:t> </a:t>
            </a:r>
            <a:r>
              <a:rPr sz="1400" dirty="0" err="1"/>
              <a:t>інтерфейсу</a:t>
            </a:r>
            <a:r>
              <a:rPr sz="1400" dirty="0"/>
              <a:t>: React SPA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Arial"/>
              </a:defRPr>
            </a:pPr>
            <a:r>
              <a:rPr sz="1400" dirty="0" err="1"/>
              <a:t>Клієнтський</a:t>
            </a:r>
            <a:r>
              <a:rPr sz="1400" dirty="0"/>
              <a:t> </a:t>
            </a:r>
            <a:r>
              <a:rPr sz="1400" dirty="0" err="1"/>
              <a:t>збірник</a:t>
            </a:r>
            <a:r>
              <a:rPr sz="1400" dirty="0"/>
              <a:t>: Vite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Arial"/>
              </a:defRPr>
            </a:pPr>
            <a:r>
              <a:rPr sz="1400" dirty="0" err="1"/>
              <a:t>Стилізація</a:t>
            </a:r>
            <a:r>
              <a:rPr sz="1400" dirty="0"/>
              <a:t>: Tailwind CSS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Arial"/>
              </a:defRPr>
            </a:pPr>
            <a:r>
              <a:rPr sz="1400" dirty="0" err="1"/>
              <a:t>Карти</a:t>
            </a:r>
            <a:r>
              <a:rPr sz="1400" dirty="0"/>
              <a:t> </a:t>
            </a:r>
            <a:r>
              <a:rPr sz="1400" dirty="0" err="1"/>
              <a:t>та</a:t>
            </a:r>
            <a:r>
              <a:rPr sz="1400" dirty="0"/>
              <a:t> </a:t>
            </a:r>
            <a:r>
              <a:rPr sz="1400" dirty="0" err="1"/>
              <a:t>геокодування</a:t>
            </a:r>
            <a:r>
              <a:rPr sz="1400" dirty="0"/>
              <a:t>: Leaflet, </a:t>
            </a:r>
            <a:r>
              <a:rPr sz="1400" dirty="0" err="1"/>
              <a:t>Nominatim</a:t>
            </a:r>
            <a:r>
              <a:rPr sz="1400" dirty="0"/>
              <a:t> API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Arial"/>
              </a:defRPr>
            </a:pPr>
            <a:r>
              <a:rPr sz="1400" dirty="0" err="1"/>
              <a:t>Запити</a:t>
            </a:r>
            <a:r>
              <a:rPr sz="1400" dirty="0"/>
              <a:t> </a:t>
            </a:r>
            <a:r>
              <a:rPr sz="1400" dirty="0" err="1"/>
              <a:t>до</a:t>
            </a:r>
            <a:r>
              <a:rPr sz="1400" dirty="0"/>
              <a:t> API: Axios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200">
                <a:latin typeface="Arial"/>
              </a:defRPr>
            </a:pPr>
            <a:r>
              <a:rPr dirty="0" err="1"/>
              <a:t>Серверна</a:t>
            </a:r>
            <a:r>
              <a:rPr dirty="0"/>
              <a:t> </a:t>
            </a:r>
            <a:r>
              <a:rPr dirty="0" err="1"/>
              <a:t>частина</a:t>
            </a:r>
            <a:r>
              <a:rPr dirty="0"/>
              <a:t> (Backend):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Arial"/>
              </a:defRPr>
            </a:pPr>
            <a:r>
              <a:rPr sz="1400" dirty="0" err="1"/>
              <a:t>Серверне</a:t>
            </a:r>
            <a:r>
              <a:rPr sz="1400" dirty="0"/>
              <a:t> </a:t>
            </a:r>
            <a:r>
              <a:rPr sz="1400" dirty="0" err="1"/>
              <a:t>середовище</a:t>
            </a:r>
            <a:r>
              <a:rPr sz="1400" dirty="0"/>
              <a:t>: Node.js, Express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Arial"/>
              </a:defRPr>
            </a:pPr>
            <a:r>
              <a:rPr sz="1400" dirty="0" err="1"/>
              <a:t>База</a:t>
            </a:r>
            <a:r>
              <a:rPr sz="1400" dirty="0"/>
              <a:t> </a:t>
            </a:r>
            <a:r>
              <a:rPr sz="1400" dirty="0" err="1"/>
              <a:t>даних</a:t>
            </a:r>
            <a:r>
              <a:rPr sz="1400" dirty="0"/>
              <a:t>: MongoDB Atlas, Mongoose ODM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Arial"/>
              </a:defRPr>
            </a:pPr>
            <a:r>
              <a:rPr sz="1400" dirty="0" err="1"/>
              <a:t>Авторизація</a:t>
            </a:r>
            <a:r>
              <a:rPr sz="1400" dirty="0"/>
              <a:t> </a:t>
            </a:r>
            <a:r>
              <a:rPr sz="1400" dirty="0" err="1"/>
              <a:t>та</a:t>
            </a:r>
            <a:r>
              <a:rPr sz="1400" dirty="0"/>
              <a:t> </a:t>
            </a:r>
            <a:r>
              <a:rPr sz="1400" dirty="0" err="1"/>
              <a:t>захист</a:t>
            </a:r>
            <a:r>
              <a:rPr sz="1400" dirty="0"/>
              <a:t>: Passport.js, JWT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Arial"/>
              </a:defRPr>
            </a:pPr>
            <a:r>
              <a:rPr sz="1400" dirty="0" err="1"/>
              <a:t>Завантаження</a:t>
            </a:r>
            <a:r>
              <a:rPr sz="1400" dirty="0"/>
              <a:t> </a:t>
            </a:r>
            <a:r>
              <a:rPr sz="1400" dirty="0" err="1"/>
              <a:t>зображень</a:t>
            </a:r>
            <a:r>
              <a:rPr sz="1400" dirty="0"/>
              <a:t>: Multer</a:t>
            </a:r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200">
                <a:latin typeface="Arial"/>
              </a:defRPr>
            </a:pPr>
            <a:r>
              <a:rPr dirty="0" err="1"/>
              <a:t>Сповіщення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зв'язок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latin typeface="Arial"/>
              </a:defRPr>
            </a:pPr>
            <a:r>
              <a:rPr sz="1400" dirty="0" err="1"/>
              <a:t>Поштовий</a:t>
            </a:r>
            <a:r>
              <a:rPr sz="1400" dirty="0"/>
              <a:t> </a:t>
            </a:r>
            <a:r>
              <a:rPr sz="1400" dirty="0" err="1"/>
              <a:t>сервіс</a:t>
            </a:r>
            <a:r>
              <a:rPr sz="1400" dirty="0"/>
              <a:t>: SMTP Brevo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B3C80F-9322-EC8E-DF9D-472B7223B34E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6" name="Picture 5" descr="javascript logo png, javascript icon transparent png 27127463 PNG">
            <a:extLst>
              <a:ext uri="{FF2B5EF4-FFF2-40B4-BE49-F238E27FC236}">
                <a16:creationId xmlns:a16="http://schemas.microsoft.com/office/drawing/2014/main" id="{092481A8-D249-2075-25E1-00317708B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60" y="3918275"/>
            <a:ext cx="1264525" cy="12645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5CCB60-FB7B-FE7E-366D-D896341E4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774" y="3996871"/>
            <a:ext cx="1104934" cy="1107331"/>
          </a:xfrm>
          <a:prstGeom prst="rect">
            <a:avLst/>
          </a:prstGeom>
        </p:spPr>
      </p:pic>
      <p:pic>
        <p:nvPicPr>
          <p:cNvPr id="1030" name="Picture 6" descr="MongoDB Atlas Reviews 2026: Details, Pricing, &amp; Features | G2">
            <a:extLst>
              <a:ext uri="{FF2B5EF4-FFF2-40B4-BE49-F238E27FC236}">
                <a16:creationId xmlns:a16="http://schemas.microsoft.com/office/drawing/2014/main" id="{AA24E242-A24E-260C-07CB-834BA44E9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308" y="3996871"/>
            <a:ext cx="1860598" cy="97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EA048A3-3BC7-5C61-01B1-AFCBE5787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145" y="4027564"/>
            <a:ext cx="1065323" cy="94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Архітектура</a:t>
            </a:r>
            <a:r>
              <a:rPr sz="2800" dirty="0"/>
              <a:t> </a:t>
            </a:r>
            <a:r>
              <a:rPr sz="2800" dirty="0" err="1"/>
              <a:t>створеного</a:t>
            </a:r>
            <a:r>
              <a:rPr sz="2800" dirty="0"/>
              <a:t> </a:t>
            </a:r>
            <a:r>
              <a:rPr sz="2800" dirty="0" err="1"/>
              <a:t>програмного</a:t>
            </a:r>
            <a:r>
              <a:rPr sz="2800" dirty="0"/>
              <a:t> </a:t>
            </a:r>
            <a:r>
              <a:rPr sz="2800" dirty="0" err="1"/>
              <a:t>забезпечення</a:t>
            </a:r>
            <a:endParaRPr sz="2800" dirty="0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743" y="1489375"/>
            <a:ext cx="4522424" cy="2743200"/>
          </a:xfrm>
          <a:prstGeom prst="rect">
            <a:avLst/>
          </a:prstGeom>
        </p:spPr>
      </p:pic>
      <p:pic>
        <p:nvPicPr>
          <p:cNvPr id="6" name="Google Shape;73;p14">
            <a:extLst>
              <a:ext uri="{FF2B5EF4-FFF2-40B4-BE49-F238E27FC236}">
                <a16:creationId xmlns:a16="http://schemas.microsoft.com/office/drawing/2014/main" id="{E86142ED-5F4C-2FAB-E11D-12BA412217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79;p15">
            <a:extLst>
              <a:ext uri="{FF2B5EF4-FFF2-40B4-BE49-F238E27FC236}">
                <a16:creationId xmlns:a16="http://schemas.microsoft.com/office/drawing/2014/main" id="{37434E58-09F6-C6B2-B399-98294AC54E41}"/>
              </a:ext>
            </a:extLst>
          </p:cNvPr>
          <p:cNvSpPr txBox="1">
            <a:spLocks/>
          </p:cNvSpPr>
          <p:nvPr/>
        </p:nvSpPr>
        <p:spPr>
          <a:xfrm>
            <a:off x="277325" y="1183975"/>
            <a:ext cx="42603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spcAft>
                <a:spcPts val="400"/>
              </a:spcAft>
            </a:pPr>
            <a:r>
              <a:rPr lang="uk-UA" dirty="0">
                <a:highlight>
                  <a:srgbClr val="FFFFFF"/>
                </a:highlight>
              </a:rPr>
              <a:t>Клієнтська частина складається з окремих модулів, кожен з яких відповідає за свою частину функціональності. 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lang="uk-UA" dirty="0">
                <a:highlight>
                  <a:srgbClr val="FFFFFF"/>
                </a:highlight>
              </a:rPr>
              <a:t>Модулі автентифікації, користувачів, оголошень та календаря взаємодіють із відповідними сервісами </a:t>
            </a:r>
            <a:r>
              <a:rPr lang="en-US" dirty="0">
                <a:highlight>
                  <a:srgbClr val="FFFFFF"/>
                </a:highlight>
              </a:rPr>
              <a:t>Express API </a:t>
            </a:r>
            <a:r>
              <a:rPr lang="uk-UA" dirty="0">
                <a:highlight>
                  <a:srgbClr val="FFFFFF"/>
                </a:highlight>
              </a:rPr>
              <a:t>для обробки даних. 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lang="uk-UA" dirty="0">
                <a:highlight>
                  <a:srgbClr val="FFFFFF"/>
                </a:highlight>
              </a:rPr>
              <a:t>Усі модулі інтегруються через ядро, яке забезпечує керування станом, маршрутизацію та обробку запитів.</a:t>
            </a:r>
          </a:p>
          <a:p>
            <a:pPr>
              <a:spcBef>
                <a:spcPts val="1500"/>
              </a:spcBef>
              <a:spcAft>
                <a:spcPts val="1200"/>
              </a:spcAft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8238B8-1B47-55DE-4462-1F8DE8F7333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05922"/>
            <a:ext cx="8520600" cy="831300"/>
          </a:xfrm>
        </p:spPr>
        <p:txBody>
          <a:bodyPr>
            <a:normAutofit/>
          </a:bodyPr>
          <a:lstStyle/>
          <a:p>
            <a:r>
              <a:rPr sz="2800" dirty="0" err="1"/>
              <a:t>Схема</a:t>
            </a:r>
            <a:r>
              <a:rPr sz="2800" dirty="0"/>
              <a:t> </a:t>
            </a:r>
            <a:r>
              <a:rPr sz="2800" dirty="0" err="1"/>
              <a:t>розгортання</a:t>
            </a:r>
            <a:r>
              <a:rPr sz="2800" dirty="0"/>
              <a:t> </a:t>
            </a:r>
            <a:r>
              <a:rPr sz="2800" dirty="0" err="1"/>
              <a:t>та</a:t>
            </a:r>
            <a:r>
              <a:rPr sz="2800" dirty="0"/>
              <a:t> </a:t>
            </a:r>
            <a:r>
              <a:rPr sz="2800" dirty="0" err="1"/>
              <a:t>бази</a:t>
            </a:r>
            <a:r>
              <a:rPr sz="2800" dirty="0"/>
              <a:t> </a:t>
            </a:r>
            <a:r>
              <a:rPr sz="2800" dirty="0" err="1"/>
              <a:t>даних</a:t>
            </a:r>
            <a:endParaRPr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6046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rPr dirty="0" err="1"/>
              <a:t>Спроєктована</a:t>
            </a:r>
            <a:r>
              <a:rPr dirty="0"/>
              <a:t> </a:t>
            </a:r>
            <a:r>
              <a:rPr dirty="0" err="1"/>
              <a:t>схема</a:t>
            </a:r>
            <a:r>
              <a:rPr dirty="0"/>
              <a:t> </a:t>
            </a:r>
            <a:r>
              <a:rPr dirty="0" err="1"/>
              <a:t>розгортання</a:t>
            </a:r>
            <a:r>
              <a:rPr dirty="0"/>
              <a:t> </a:t>
            </a:r>
            <a:r>
              <a:rPr dirty="0" err="1"/>
              <a:t>системи</a:t>
            </a:r>
            <a:r>
              <a:rPr dirty="0"/>
              <a:t> (</a:t>
            </a:r>
            <a:r>
              <a:rPr dirty="0" err="1"/>
              <a:t>ліворуч</a:t>
            </a:r>
            <a:r>
              <a:rPr dirty="0"/>
              <a:t>) </a:t>
            </a:r>
            <a:r>
              <a:rPr dirty="0" err="1"/>
              <a:t>базується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клієнт-серверній</a:t>
            </a:r>
            <a:r>
              <a:rPr dirty="0"/>
              <a:t> </a:t>
            </a:r>
            <a:r>
              <a:rPr dirty="0" err="1"/>
              <a:t>архітектурі</a:t>
            </a:r>
            <a:r>
              <a:rPr dirty="0"/>
              <a:t>, </a:t>
            </a:r>
            <a:r>
              <a:rPr dirty="0" err="1"/>
              <a:t>де</a:t>
            </a:r>
            <a:r>
              <a:rPr dirty="0"/>
              <a:t> </a:t>
            </a:r>
            <a:r>
              <a:rPr dirty="0" err="1"/>
              <a:t>клієнтська</a:t>
            </a:r>
            <a:r>
              <a:rPr dirty="0"/>
              <a:t> React SPA </a:t>
            </a:r>
            <a:r>
              <a:rPr dirty="0" err="1"/>
              <a:t>взаємодіє</a:t>
            </a:r>
            <a:r>
              <a:rPr dirty="0"/>
              <a:t> з </a:t>
            </a:r>
            <a:r>
              <a:rPr dirty="0" err="1"/>
              <a:t>сервером</a:t>
            </a:r>
            <a:r>
              <a:rPr dirty="0"/>
              <a:t> Express API </a:t>
            </a:r>
            <a:r>
              <a:rPr dirty="0" err="1"/>
              <a:t>через</a:t>
            </a:r>
            <a:r>
              <a:rPr dirty="0"/>
              <a:t> REST </a:t>
            </a:r>
            <a:r>
              <a:rPr dirty="0" err="1"/>
              <a:t>протокол</a:t>
            </a:r>
            <a:r>
              <a:rPr dirty="0"/>
              <a:t>. </a:t>
            </a:r>
            <a:r>
              <a:rPr dirty="0" err="1"/>
              <a:t>Збереження</a:t>
            </a:r>
            <a:r>
              <a:rPr dirty="0"/>
              <a:t> </a:t>
            </a:r>
            <a:r>
              <a:rPr dirty="0" err="1"/>
              <a:t>даних</a:t>
            </a:r>
            <a:r>
              <a:rPr dirty="0"/>
              <a:t> </a:t>
            </a:r>
            <a:r>
              <a:rPr dirty="0" err="1"/>
              <a:t>здійснюється</a:t>
            </a:r>
            <a:r>
              <a:rPr dirty="0"/>
              <a:t> у NoSQL СУБД MongoDB, </a:t>
            </a: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якої</a:t>
            </a:r>
            <a:r>
              <a:rPr dirty="0"/>
              <a:t> </a:t>
            </a:r>
            <a:r>
              <a:rPr dirty="0" err="1"/>
              <a:t>представлена</a:t>
            </a:r>
            <a:r>
              <a:rPr dirty="0"/>
              <a:t> ER-</a:t>
            </a:r>
            <a:r>
              <a:rPr dirty="0" err="1"/>
              <a:t>моделлю</a:t>
            </a:r>
            <a:r>
              <a:rPr dirty="0"/>
              <a:t> (</a:t>
            </a:r>
            <a:r>
              <a:rPr dirty="0" err="1"/>
              <a:t>праворуч</a:t>
            </a:r>
            <a:r>
              <a:rPr dirty="0"/>
              <a:t>).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83906"/>
            <a:ext cx="3931920" cy="2667227"/>
          </a:xfrm>
          <a:prstGeom prst="rect">
            <a:avLst/>
          </a:prstGeom>
        </p:spPr>
      </p:pic>
      <p:pic>
        <p:nvPicPr>
          <p:cNvPr id="5" name="Picture 4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623" y="1645920"/>
            <a:ext cx="1448432" cy="2743200"/>
          </a:xfrm>
          <a:prstGeom prst="rect">
            <a:avLst/>
          </a:prstGeom>
        </p:spPr>
      </p:pic>
      <p:pic>
        <p:nvPicPr>
          <p:cNvPr id="7" name="Google Shape;73;p14">
            <a:extLst>
              <a:ext uri="{FF2B5EF4-FFF2-40B4-BE49-F238E27FC236}">
                <a16:creationId xmlns:a16="http://schemas.microsoft.com/office/drawing/2014/main" id="{C369D7E1-5A09-5AFA-69C5-3C3A035F013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5CBC81-0B43-F740-A4A9-505FB4169A60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0291"/>
            <a:ext cx="8520600" cy="831300"/>
          </a:xfrm>
        </p:spPr>
        <p:txBody>
          <a:bodyPr>
            <a:normAutofit/>
          </a:bodyPr>
          <a:lstStyle/>
          <a:p>
            <a:r>
              <a:rPr sz="2800" dirty="0" err="1"/>
              <a:t>Діаграми</a:t>
            </a:r>
            <a:r>
              <a:rPr sz="2800" dirty="0"/>
              <a:t> </a:t>
            </a:r>
            <a:r>
              <a:rPr sz="2800" dirty="0" err="1"/>
              <a:t>варіантів</a:t>
            </a:r>
            <a:r>
              <a:rPr sz="2800" dirty="0"/>
              <a:t> </a:t>
            </a:r>
            <a:r>
              <a:rPr sz="2800" dirty="0" err="1"/>
              <a:t>використання</a:t>
            </a:r>
            <a:endParaRPr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rPr sz="1200" dirty="0" err="1"/>
              <a:t>Для</a:t>
            </a:r>
            <a:r>
              <a:rPr sz="1200" dirty="0"/>
              <a:t> </a:t>
            </a:r>
            <a:r>
              <a:rPr sz="1200" dirty="0" err="1"/>
              <a:t>моделювання</a:t>
            </a:r>
            <a:r>
              <a:rPr sz="1200" dirty="0"/>
              <a:t> </a:t>
            </a:r>
            <a:r>
              <a:rPr sz="1200" dirty="0" err="1"/>
              <a:t>бізнес-процесів</a:t>
            </a:r>
            <a:r>
              <a:rPr sz="1200" dirty="0"/>
              <a:t> </a:t>
            </a:r>
            <a:r>
              <a:rPr sz="1200" dirty="0" err="1"/>
              <a:t>системи</a:t>
            </a:r>
            <a:r>
              <a:rPr sz="1200" dirty="0"/>
              <a:t> </a:t>
            </a:r>
            <a:r>
              <a:rPr sz="1200" dirty="0" err="1"/>
              <a:t>побудовано</a:t>
            </a:r>
            <a:r>
              <a:rPr sz="1200" dirty="0"/>
              <a:t> UML-</a:t>
            </a:r>
            <a:r>
              <a:rPr sz="1200" dirty="0" err="1"/>
              <a:t>діаграми</a:t>
            </a:r>
            <a:r>
              <a:rPr sz="1200" dirty="0"/>
              <a:t> </a:t>
            </a:r>
            <a:r>
              <a:rPr sz="1200" dirty="0" err="1"/>
              <a:t>прецедентів</a:t>
            </a:r>
            <a:r>
              <a:rPr sz="1200" dirty="0"/>
              <a:t>. </a:t>
            </a:r>
            <a:r>
              <a:rPr sz="1200" dirty="0" err="1"/>
              <a:t>Ліворуч</a:t>
            </a:r>
            <a:r>
              <a:rPr sz="1200" dirty="0"/>
              <a:t> </a:t>
            </a:r>
            <a:r>
              <a:rPr sz="1200" dirty="0" err="1"/>
              <a:t>наведено</a:t>
            </a:r>
            <a:r>
              <a:rPr sz="1200" dirty="0"/>
              <a:t> </a:t>
            </a:r>
            <a:r>
              <a:rPr sz="1200" dirty="0" err="1"/>
              <a:t>діаграму</a:t>
            </a:r>
            <a:r>
              <a:rPr sz="1200" dirty="0"/>
              <a:t> </a:t>
            </a:r>
            <a:r>
              <a:rPr sz="1200" dirty="0" err="1"/>
              <a:t>варіантів</a:t>
            </a:r>
            <a:r>
              <a:rPr sz="1200" dirty="0"/>
              <a:t> </a:t>
            </a:r>
            <a:r>
              <a:rPr sz="1200" dirty="0" err="1"/>
              <a:t>використання</a:t>
            </a:r>
            <a:r>
              <a:rPr sz="1200" dirty="0"/>
              <a:t> </a:t>
            </a:r>
            <a:r>
              <a:rPr sz="1200" dirty="0" err="1"/>
              <a:t>верхнього</a:t>
            </a:r>
            <a:r>
              <a:rPr sz="1200" dirty="0"/>
              <a:t> </a:t>
            </a:r>
            <a:r>
              <a:rPr sz="1200" dirty="0" err="1"/>
              <a:t>рівня</a:t>
            </a:r>
            <a:r>
              <a:rPr sz="1200" dirty="0"/>
              <a:t> </a:t>
            </a:r>
            <a:r>
              <a:rPr sz="1200" dirty="0" err="1"/>
              <a:t>для</a:t>
            </a:r>
            <a:r>
              <a:rPr sz="1200" dirty="0"/>
              <a:t> </a:t>
            </a:r>
            <a:r>
              <a:rPr sz="1200" dirty="0" err="1"/>
              <a:t>трьох</a:t>
            </a:r>
            <a:r>
              <a:rPr sz="1200" dirty="0"/>
              <a:t> </a:t>
            </a:r>
            <a:r>
              <a:rPr sz="1200" dirty="0" err="1"/>
              <a:t>ключових</a:t>
            </a:r>
            <a:r>
              <a:rPr sz="1200" dirty="0"/>
              <a:t> </a:t>
            </a:r>
            <a:r>
              <a:rPr sz="1200" dirty="0" err="1"/>
              <a:t>ролей</a:t>
            </a:r>
            <a:r>
              <a:rPr sz="1200" dirty="0"/>
              <a:t> (</a:t>
            </a:r>
            <a:r>
              <a:rPr sz="1200" dirty="0" err="1"/>
              <a:t>Гість</a:t>
            </a:r>
            <a:r>
              <a:rPr sz="1200" dirty="0"/>
              <a:t>, </a:t>
            </a:r>
            <a:r>
              <a:rPr sz="1200" dirty="0" err="1"/>
              <a:t>Власник</a:t>
            </a:r>
            <a:r>
              <a:rPr sz="1200" dirty="0"/>
              <a:t>, </a:t>
            </a:r>
            <a:r>
              <a:rPr sz="1200" dirty="0" err="1"/>
              <a:t>Адміністратор</a:t>
            </a:r>
            <a:r>
              <a:rPr sz="1200" dirty="0"/>
              <a:t>). </a:t>
            </a:r>
            <a:r>
              <a:rPr sz="1200" dirty="0" err="1"/>
              <a:t>Праворуч</a:t>
            </a:r>
            <a:r>
              <a:rPr sz="1200" dirty="0"/>
              <a:t> </a:t>
            </a:r>
            <a:r>
              <a:rPr sz="1200" dirty="0" err="1"/>
              <a:t>наведено</a:t>
            </a:r>
            <a:r>
              <a:rPr sz="1200" dirty="0"/>
              <a:t> </a:t>
            </a:r>
            <a:r>
              <a:rPr sz="1200" dirty="0" err="1"/>
              <a:t>деталізовану</a:t>
            </a:r>
            <a:r>
              <a:rPr sz="1200" dirty="0"/>
              <a:t> </a:t>
            </a:r>
            <a:r>
              <a:rPr sz="1200" dirty="0" err="1"/>
              <a:t>діаграму</a:t>
            </a:r>
            <a:r>
              <a:rPr sz="1200" dirty="0"/>
              <a:t> </a:t>
            </a:r>
            <a:r>
              <a:rPr sz="1200" dirty="0" err="1"/>
              <a:t>варіантів</a:t>
            </a:r>
            <a:r>
              <a:rPr sz="1200" dirty="0"/>
              <a:t> </a:t>
            </a:r>
            <a:r>
              <a:rPr sz="1200" dirty="0" err="1"/>
              <a:t>використання</a:t>
            </a:r>
            <a:r>
              <a:rPr sz="1200" dirty="0"/>
              <a:t> </a:t>
            </a:r>
            <a:r>
              <a:rPr sz="1200" dirty="0" err="1"/>
              <a:t>модуля</a:t>
            </a:r>
            <a:r>
              <a:rPr sz="1200" dirty="0"/>
              <a:t> </a:t>
            </a:r>
            <a:r>
              <a:rPr sz="1200" dirty="0" err="1"/>
              <a:t>управління</a:t>
            </a:r>
            <a:r>
              <a:rPr sz="1200" dirty="0"/>
              <a:t> </a:t>
            </a:r>
            <a:r>
              <a:rPr sz="1200" dirty="0" err="1"/>
              <a:t>користувачами</a:t>
            </a:r>
            <a:r>
              <a:rPr sz="1200" dirty="0"/>
              <a:t> </a:t>
            </a:r>
            <a:r>
              <a:rPr sz="1200" dirty="0" err="1"/>
              <a:t>та</a:t>
            </a:r>
            <a:r>
              <a:rPr sz="1200" dirty="0"/>
              <a:t> </a:t>
            </a:r>
            <a:r>
              <a:rPr sz="1200" dirty="0" err="1"/>
              <a:t>контентом</a:t>
            </a:r>
            <a:r>
              <a:rPr sz="1200" dirty="0"/>
              <a:t>.</a:t>
            </a:r>
          </a:p>
        </p:txBody>
      </p:sp>
      <p:pic>
        <p:nvPicPr>
          <p:cNvPr id="4" name="Picture 3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685" y="1645920"/>
            <a:ext cx="1746948" cy="2743200"/>
          </a:xfrm>
          <a:prstGeom prst="rect">
            <a:avLst/>
          </a:prstGeom>
        </p:spPr>
      </p:pic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681" y="1645920"/>
            <a:ext cx="2976317" cy="274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A91BB9-4BA2-43BB-D563-E9459EC8CD5C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Приклад</a:t>
            </a:r>
            <a:r>
              <a:rPr sz="2800" dirty="0"/>
              <a:t> </a:t>
            </a:r>
            <a:r>
              <a:rPr sz="2800" dirty="0" err="1"/>
              <a:t>інтерфейсу</a:t>
            </a:r>
            <a:r>
              <a:rPr sz="2800" dirty="0"/>
              <a:t>. </a:t>
            </a:r>
            <a:r>
              <a:rPr sz="2800" dirty="0" err="1"/>
              <a:t>Сторінка</a:t>
            </a:r>
            <a:r>
              <a:rPr sz="2800" dirty="0"/>
              <a:t> </a:t>
            </a:r>
            <a:r>
              <a:rPr sz="2800" dirty="0" err="1"/>
              <a:t>входу</a:t>
            </a:r>
            <a:endParaRPr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8404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const </a:t>
            </a:r>
            <a:r>
              <a:rPr dirty="0" err="1"/>
              <a:t>submitLogin</a:t>
            </a:r>
            <a:r>
              <a:rPr dirty="0"/>
              <a:t> = async (e) =&gt; 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</a:t>
            </a:r>
            <a:r>
              <a:rPr dirty="0" err="1"/>
              <a:t>e.preventDefault</a:t>
            </a:r>
            <a:r>
              <a:rPr dirty="0"/>
              <a:t>();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</a:t>
            </a:r>
            <a:r>
              <a:rPr dirty="0" err="1"/>
              <a:t>setError</a:t>
            </a:r>
            <a:r>
              <a:rPr dirty="0"/>
              <a:t>("");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</a:t>
            </a:r>
            <a:r>
              <a:rPr dirty="0" err="1"/>
              <a:t>setLoading</a:t>
            </a:r>
            <a:r>
              <a:rPr dirty="0"/>
              <a:t>(true);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try 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await </a:t>
            </a:r>
            <a:r>
              <a:rPr dirty="0" err="1"/>
              <a:t>axios.post</a:t>
            </a:r>
            <a:r>
              <a:rPr dirty="0"/>
              <a:t>("/</a:t>
            </a:r>
            <a:r>
              <a:rPr dirty="0" err="1"/>
              <a:t>api</a:t>
            </a:r>
            <a:r>
              <a:rPr dirty="0"/>
              <a:t>/auth/email-login", 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  email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});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</a:t>
            </a:r>
            <a:r>
              <a:rPr dirty="0" err="1"/>
              <a:t>goToVerify</a:t>
            </a:r>
            <a:r>
              <a:rPr dirty="0"/>
              <a:t>(email);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} catch (err) 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</a:t>
            </a:r>
            <a:r>
              <a:rPr dirty="0" err="1"/>
              <a:t>setError</a:t>
            </a:r>
            <a:r>
              <a:rPr dirty="0"/>
              <a:t>(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  </a:t>
            </a:r>
            <a:r>
              <a:rPr dirty="0" err="1"/>
              <a:t>err.response?.data?.message</a:t>
            </a:r>
            <a:r>
              <a:rPr dirty="0"/>
              <a:t> || "</a:t>
            </a:r>
            <a:r>
              <a:rPr dirty="0" err="1"/>
              <a:t>Помилка</a:t>
            </a:r>
            <a:r>
              <a:rPr dirty="0"/>
              <a:t>"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} finally 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</a:t>
            </a:r>
            <a:r>
              <a:rPr dirty="0" err="1"/>
              <a:t>setLoading</a:t>
            </a:r>
            <a:r>
              <a:rPr dirty="0"/>
              <a:t>(false);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}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};</a:t>
            </a:r>
          </a:p>
        </p:txBody>
      </p:sp>
      <p:pic>
        <p:nvPicPr>
          <p:cNvPr id="5" name="Picture 4" descr="screenshot_auth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80160"/>
            <a:ext cx="4511565" cy="2819728"/>
          </a:xfrm>
          <a:prstGeom prst="rect">
            <a:avLst/>
          </a:prstGeom>
        </p:spPr>
      </p:pic>
      <p:pic>
        <p:nvPicPr>
          <p:cNvPr id="7" name="Google Shape;73;p14">
            <a:extLst>
              <a:ext uri="{FF2B5EF4-FFF2-40B4-BE49-F238E27FC236}">
                <a16:creationId xmlns:a16="http://schemas.microsoft.com/office/drawing/2014/main" id="{9C7BA5E3-943A-AB49-DB68-7FDCD24C50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7ECF79-AC9D-8AA1-C977-4057BAEA27B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74675"/>
            <a:ext cx="8520600" cy="831300"/>
          </a:xfrm>
        </p:spPr>
        <p:txBody>
          <a:bodyPr>
            <a:normAutofit/>
          </a:bodyPr>
          <a:lstStyle/>
          <a:p>
            <a:r>
              <a:rPr sz="2800" dirty="0" err="1"/>
              <a:t>Приклад</a:t>
            </a:r>
            <a:r>
              <a:rPr sz="2800" dirty="0"/>
              <a:t> </a:t>
            </a:r>
            <a:r>
              <a:rPr sz="2800" dirty="0" err="1"/>
              <a:t>інтерфейсу</a:t>
            </a:r>
            <a:r>
              <a:rPr sz="2800" dirty="0"/>
              <a:t>. </a:t>
            </a:r>
            <a:r>
              <a:rPr sz="2800" dirty="0" err="1"/>
              <a:t>Реєстрація</a:t>
            </a:r>
            <a:r>
              <a:rPr sz="2800" dirty="0"/>
              <a:t> </a:t>
            </a:r>
            <a:r>
              <a:rPr sz="2800" dirty="0" err="1"/>
              <a:t>користувача</a:t>
            </a:r>
            <a:endParaRPr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245785"/>
            <a:ext cx="38404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const </a:t>
            </a:r>
            <a:r>
              <a:rPr dirty="0" err="1"/>
              <a:t>submitRegister</a:t>
            </a:r>
            <a:r>
              <a:rPr dirty="0"/>
              <a:t> = async (e) =&gt; 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</a:t>
            </a:r>
            <a:r>
              <a:rPr dirty="0" err="1"/>
              <a:t>e.preventDefault</a:t>
            </a:r>
            <a:r>
              <a:rPr dirty="0"/>
              <a:t>();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</a:t>
            </a:r>
            <a:r>
              <a:rPr dirty="0" err="1"/>
              <a:t>setError</a:t>
            </a:r>
            <a:r>
              <a:rPr dirty="0"/>
              <a:t>("");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</a:t>
            </a:r>
            <a:r>
              <a:rPr dirty="0" err="1"/>
              <a:t>setLoading</a:t>
            </a:r>
            <a:r>
              <a:rPr dirty="0"/>
              <a:t>(true);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try 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await </a:t>
            </a:r>
            <a:r>
              <a:rPr dirty="0" err="1"/>
              <a:t>axios.post</a:t>
            </a:r>
            <a:r>
              <a:rPr dirty="0"/>
              <a:t>("/</a:t>
            </a:r>
            <a:r>
              <a:rPr dirty="0" err="1"/>
              <a:t>api</a:t>
            </a:r>
            <a:r>
              <a:rPr dirty="0"/>
              <a:t>/auth/register", 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  name,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  email,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  role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});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</a:t>
            </a:r>
            <a:r>
              <a:rPr dirty="0" err="1"/>
              <a:t>goToVerify</a:t>
            </a:r>
            <a:r>
              <a:rPr dirty="0"/>
              <a:t>(email);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} catch (err) 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</a:t>
            </a:r>
            <a:r>
              <a:rPr dirty="0" err="1"/>
              <a:t>setError</a:t>
            </a:r>
            <a:r>
              <a:rPr dirty="0"/>
              <a:t>(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  </a:t>
            </a:r>
            <a:r>
              <a:rPr dirty="0" err="1"/>
              <a:t>err.response?.data?.message</a:t>
            </a:r>
            <a:r>
              <a:rPr dirty="0"/>
              <a:t> || "</a:t>
            </a:r>
            <a:r>
              <a:rPr dirty="0" err="1"/>
              <a:t>Помилка</a:t>
            </a:r>
            <a:r>
              <a:rPr dirty="0"/>
              <a:t>"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} finally 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</a:t>
            </a:r>
            <a:r>
              <a:rPr dirty="0" err="1"/>
              <a:t>setLoading</a:t>
            </a:r>
            <a:r>
              <a:rPr dirty="0"/>
              <a:t>(false);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}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};</a:t>
            </a:r>
          </a:p>
        </p:txBody>
      </p:sp>
      <p:pic>
        <p:nvPicPr>
          <p:cNvPr id="5" name="Picture 4" descr="screenshot_auth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29187"/>
            <a:ext cx="4389120" cy="2743200"/>
          </a:xfrm>
          <a:prstGeom prst="rect">
            <a:avLst/>
          </a:prstGeom>
        </p:spPr>
      </p:pic>
      <p:pic>
        <p:nvPicPr>
          <p:cNvPr id="7" name="Google Shape;73;p14">
            <a:extLst>
              <a:ext uri="{FF2B5EF4-FFF2-40B4-BE49-F238E27FC236}">
                <a16:creationId xmlns:a16="http://schemas.microsoft.com/office/drawing/2014/main" id="{09C63FDA-FE60-7C5C-3866-F483D356E12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0C94F6-CAF1-72AB-C2BD-7C1166DAF680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Приклад</a:t>
            </a:r>
            <a:r>
              <a:rPr sz="2800" dirty="0"/>
              <a:t> </a:t>
            </a:r>
            <a:r>
              <a:rPr sz="2800" dirty="0" err="1"/>
              <a:t>інтерфейсу</a:t>
            </a:r>
            <a:r>
              <a:rPr sz="2800" dirty="0"/>
              <a:t>. </a:t>
            </a:r>
            <a:r>
              <a:rPr sz="2800" dirty="0" err="1"/>
              <a:t>Сторінка</a:t>
            </a:r>
            <a:r>
              <a:rPr sz="2800" dirty="0"/>
              <a:t> </a:t>
            </a:r>
            <a:r>
              <a:rPr sz="2800" dirty="0" err="1"/>
              <a:t>профілю</a:t>
            </a:r>
            <a:endParaRPr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8404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const </a:t>
            </a:r>
            <a:r>
              <a:rPr dirty="0" err="1"/>
              <a:t>handleSubmit</a:t>
            </a:r>
            <a:r>
              <a:rPr dirty="0"/>
              <a:t> = async (e) =&gt; 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</a:t>
            </a:r>
            <a:r>
              <a:rPr dirty="0" err="1"/>
              <a:t>e.preventDefault</a:t>
            </a:r>
            <a:r>
              <a:rPr dirty="0"/>
              <a:t>();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</a:t>
            </a:r>
            <a:r>
              <a:rPr dirty="0" err="1"/>
              <a:t>setSaving</a:t>
            </a:r>
            <a:r>
              <a:rPr dirty="0"/>
              <a:t>(true);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try 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const { data } = await </a:t>
            </a:r>
            <a:r>
              <a:rPr dirty="0" err="1"/>
              <a:t>axios.patch</a:t>
            </a:r>
            <a:r>
              <a:rPr dirty="0"/>
              <a:t>(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  "/</a:t>
            </a:r>
            <a:r>
              <a:rPr dirty="0" err="1"/>
              <a:t>api</a:t>
            </a:r>
            <a:r>
              <a:rPr dirty="0"/>
              <a:t>/users/me",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  form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</a:t>
            </a:r>
            <a:r>
              <a:rPr dirty="0" err="1"/>
              <a:t>auth.updateUser</a:t>
            </a:r>
            <a:r>
              <a:rPr dirty="0"/>
              <a:t>({ name: data.name });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</a:t>
            </a:r>
            <a:r>
              <a:rPr dirty="0" err="1"/>
              <a:t>setSuccess</a:t>
            </a:r>
            <a:r>
              <a:rPr dirty="0"/>
              <a:t>(true);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</a:t>
            </a:r>
            <a:r>
              <a:rPr dirty="0" err="1"/>
              <a:t>setTimeout</a:t>
            </a:r>
            <a:r>
              <a:rPr dirty="0"/>
              <a:t>(() =&gt; </a:t>
            </a:r>
            <a:r>
              <a:rPr dirty="0" err="1"/>
              <a:t>setSuccess</a:t>
            </a:r>
            <a:r>
              <a:rPr dirty="0"/>
              <a:t>(false), 3000);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} catch (err) 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</a:t>
            </a:r>
            <a:r>
              <a:rPr dirty="0" err="1"/>
              <a:t>console.error</a:t>
            </a:r>
            <a:r>
              <a:rPr dirty="0"/>
              <a:t>(err);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} finally 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  </a:t>
            </a:r>
            <a:r>
              <a:rPr dirty="0" err="1"/>
              <a:t>setSaving</a:t>
            </a:r>
            <a:r>
              <a:rPr dirty="0"/>
              <a:t>(false);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  }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dirty="0"/>
              <a:t>};</a:t>
            </a:r>
          </a:p>
        </p:txBody>
      </p:sp>
      <p:pic>
        <p:nvPicPr>
          <p:cNvPr id="7" name="Google Shape;73;p14">
            <a:extLst>
              <a:ext uri="{FF2B5EF4-FFF2-40B4-BE49-F238E27FC236}">
                <a16:creationId xmlns:a16="http://schemas.microsoft.com/office/drawing/2014/main" id="{7D4D8060-357E-9B85-A49B-FB6E3E17DB9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43E71C-A8F2-BACB-6CFF-5D7A01A6A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88720"/>
            <a:ext cx="3876604" cy="28835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364D490-A0E1-ED5F-F0DE-A044877D40B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-124087"/>
            <a:ext cx="8520600" cy="831300"/>
          </a:xfrm>
        </p:spPr>
        <p:txBody>
          <a:bodyPr>
            <a:normAutofit/>
          </a:bodyPr>
          <a:lstStyle/>
          <a:p>
            <a:r>
              <a:rPr sz="2800" dirty="0" err="1"/>
              <a:t>Приклад</a:t>
            </a:r>
            <a:r>
              <a:rPr sz="2800" dirty="0"/>
              <a:t> </a:t>
            </a:r>
            <a:r>
              <a:rPr sz="2800" dirty="0" err="1"/>
              <a:t>інтерфейсу</a:t>
            </a:r>
            <a:r>
              <a:rPr sz="2800" dirty="0"/>
              <a:t>. </a:t>
            </a:r>
            <a:r>
              <a:rPr sz="2800" dirty="0" err="1"/>
              <a:t>Додавання</a:t>
            </a:r>
            <a:r>
              <a:rPr sz="2800" dirty="0"/>
              <a:t> </a:t>
            </a:r>
            <a:r>
              <a:rPr sz="2800" dirty="0" err="1"/>
              <a:t>локації</a:t>
            </a:r>
            <a:endParaRPr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07952" y="643118"/>
            <a:ext cx="3840480" cy="39728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const submit = async (e) =&gt; {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</a:t>
            </a:r>
            <a:r>
              <a:rPr dirty="0" err="1"/>
              <a:t>e.preventDefault</a:t>
            </a:r>
            <a:r>
              <a:rPr dirty="0"/>
              <a:t>();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</a:t>
            </a:r>
            <a:r>
              <a:rPr dirty="0" err="1"/>
              <a:t>setLoading</a:t>
            </a:r>
            <a:r>
              <a:rPr dirty="0"/>
              <a:t>(true);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</a:t>
            </a:r>
            <a:r>
              <a:rPr dirty="0" err="1"/>
              <a:t>setError</a:t>
            </a:r>
            <a:r>
              <a:rPr dirty="0"/>
              <a:t>("");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try {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const data = new </a:t>
            </a:r>
            <a:r>
              <a:rPr dirty="0" err="1"/>
              <a:t>FormData</a:t>
            </a:r>
            <a:r>
              <a:rPr dirty="0"/>
              <a:t>();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</a:t>
            </a:r>
            <a:r>
              <a:rPr dirty="0" err="1"/>
              <a:t>data.append</a:t>
            </a:r>
            <a:r>
              <a:rPr dirty="0"/>
              <a:t>("title", title);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</a:t>
            </a:r>
            <a:r>
              <a:rPr dirty="0" err="1"/>
              <a:t>data.append</a:t>
            </a:r>
            <a:r>
              <a:rPr dirty="0"/>
              <a:t>("description", description);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</a:t>
            </a:r>
            <a:r>
              <a:rPr dirty="0" err="1"/>
              <a:t>data.append</a:t>
            </a:r>
            <a:r>
              <a:rPr dirty="0"/>
              <a:t>("address", address);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</a:t>
            </a:r>
            <a:r>
              <a:rPr dirty="0" err="1"/>
              <a:t>data.append</a:t>
            </a:r>
            <a:r>
              <a:rPr dirty="0"/>
              <a:t>("</a:t>
            </a:r>
            <a:r>
              <a:rPr dirty="0" err="1"/>
              <a:t>price_per_hour</a:t>
            </a:r>
            <a:r>
              <a:rPr dirty="0"/>
              <a:t>", </a:t>
            </a:r>
            <a:r>
              <a:rPr dirty="0" err="1"/>
              <a:t>pricePerHour</a:t>
            </a:r>
            <a:r>
              <a:rPr dirty="0"/>
              <a:t>);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</a:t>
            </a:r>
            <a:r>
              <a:rPr dirty="0" err="1"/>
              <a:t>data.append</a:t>
            </a:r>
            <a:r>
              <a:rPr dirty="0"/>
              <a:t>("</a:t>
            </a:r>
            <a:r>
              <a:rPr dirty="0" err="1"/>
              <a:t>max_guests</a:t>
            </a:r>
            <a:r>
              <a:rPr dirty="0"/>
              <a:t>", </a:t>
            </a:r>
            <a:r>
              <a:rPr dirty="0" err="1"/>
              <a:t>maxGuests</a:t>
            </a:r>
            <a:r>
              <a:rPr dirty="0"/>
              <a:t>);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</a:t>
            </a:r>
            <a:r>
              <a:rPr dirty="0" err="1"/>
              <a:t>data.append</a:t>
            </a:r>
            <a:r>
              <a:rPr dirty="0"/>
              <a:t>("category", category);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</a:t>
            </a:r>
            <a:r>
              <a:rPr dirty="0" err="1"/>
              <a:t>data.append</a:t>
            </a:r>
            <a:r>
              <a:rPr dirty="0"/>
              <a:t>("availability",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  </a:t>
            </a:r>
            <a:r>
              <a:rPr dirty="0" err="1"/>
              <a:t>JSON.stringify</a:t>
            </a:r>
            <a:r>
              <a:rPr dirty="0"/>
              <a:t>(availability)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);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</a:t>
            </a:r>
            <a:r>
              <a:rPr dirty="0" err="1"/>
              <a:t>photos.forEach</a:t>
            </a:r>
            <a:r>
              <a:rPr dirty="0"/>
              <a:t>((p) =&gt;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  </a:t>
            </a:r>
            <a:r>
              <a:rPr dirty="0" err="1"/>
              <a:t>data.append</a:t>
            </a:r>
            <a:r>
              <a:rPr dirty="0"/>
              <a:t>("photos", p)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);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await </a:t>
            </a:r>
            <a:r>
              <a:rPr dirty="0" err="1"/>
              <a:t>axios.post</a:t>
            </a:r>
            <a:r>
              <a:rPr dirty="0"/>
              <a:t>("/</a:t>
            </a:r>
            <a:r>
              <a:rPr dirty="0" err="1"/>
              <a:t>api</a:t>
            </a:r>
            <a:r>
              <a:rPr dirty="0"/>
              <a:t>/listings", data, {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  headers: {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    "Content-Type": "multipart/form-data"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  },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});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navigate("/my-listings");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} catch (err) {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</a:t>
            </a:r>
            <a:r>
              <a:rPr dirty="0" err="1"/>
              <a:t>setError</a:t>
            </a:r>
            <a:r>
              <a:rPr dirty="0"/>
              <a:t>(</a:t>
            </a:r>
            <a:r>
              <a:rPr dirty="0" err="1"/>
              <a:t>err.response?.data?.message</a:t>
            </a:r>
            <a:r>
              <a:rPr dirty="0"/>
              <a:t> || "..");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} finally {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   </a:t>
            </a:r>
            <a:r>
              <a:rPr dirty="0" err="1"/>
              <a:t>setLoading</a:t>
            </a:r>
            <a:r>
              <a:rPr dirty="0"/>
              <a:t>(false);</a:t>
            </a:r>
            <a:r>
              <a:rPr lang="uk-UA" dirty="0"/>
              <a:t> </a:t>
            </a:r>
            <a:r>
              <a:rPr lang="ru-UA" dirty="0"/>
              <a:t>}</a:t>
            </a:r>
            <a:r>
              <a:rPr lang="uk-UA" dirty="0"/>
              <a:t> </a:t>
            </a:r>
            <a:r>
              <a:rPr lang="ru-UA" dirty="0"/>
              <a:t>};</a:t>
            </a:r>
          </a:p>
          <a:p>
            <a:pPr>
              <a:spcAft>
                <a:spcPts val="100"/>
              </a:spcAft>
              <a:defRPr sz="780">
                <a:latin typeface="Consolas"/>
              </a:defRPr>
            </a:pPr>
            <a:r>
              <a:rPr dirty="0"/>
              <a:t> </a:t>
            </a:r>
          </a:p>
        </p:txBody>
      </p:sp>
      <p:pic>
        <p:nvPicPr>
          <p:cNvPr id="7" name="Google Shape;73;p14">
            <a:extLst>
              <a:ext uri="{FF2B5EF4-FFF2-40B4-BE49-F238E27FC236}">
                <a16:creationId xmlns:a16="http://schemas.microsoft.com/office/drawing/2014/main" id="{E03D0120-0981-23B1-81E1-C9144C9BFF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2D32F2-F1D6-DE80-3756-2AEC3D550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459" y="1044794"/>
            <a:ext cx="3841086" cy="30539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348261-8FFE-144F-72BD-02F60868D351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075" y="185299"/>
            <a:ext cx="8520600" cy="831300"/>
          </a:xfrm>
        </p:spPr>
        <p:txBody>
          <a:bodyPr>
            <a:normAutofit/>
          </a:bodyPr>
          <a:lstStyle/>
          <a:p>
            <a:r>
              <a:rPr sz="2800" dirty="0" err="1"/>
              <a:t>Приклад</a:t>
            </a:r>
            <a:r>
              <a:rPr sz="2800" dirty="0"/>
              <a:t> </a:t>
            </a:r>
            <a:r>
              <a:rPr sz="2800" dirty="0" err="1"/>
              <a:t>інтерфейсу</a:t>
            </a:r>
            <a:r>
              <a:rPr sz="2800" dirty="0"/>
              <a:t>. </a:t>
            </a:r>
            <a:r>
              <a:rPr sz="2800" dirty="0" err="1"/>
              <a:t>Керування</a:t>
            </a:r>
            <a:r>
              <a:rPr sz="2800" dirty="0"/>
              <a:t> </a:t>
            </a:r>
            <a:r>
              <a:rPr sz="2800" dirty="0" err="1"/>
              <a:t>оголошеннями</a:t>
            </a:r>
            <a:endParaRPr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88449" y="1005154"/>
            <a:ext cx="3840480" cy="3249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const </a:t>
            </a:r>
            <a:r>
              <a:rPr dirty="0" err="1"/>
              <a:t>toggleVisibility</a:t>
            </a:r>
            <a:r>
              <a:rPr dirty="0"/>
              <a:t> = async (listing) =&gt; {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try {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await </a:t>
            </a:r>
            <a:r>
              <a:rPr dirty="0" err="1"/>
              <a:t>axios.put</a:t>
            </a:r>
            <a:r>
              <a:rPr dirty="0"/>
              <a:t>(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  `/</a:t>
            </a:r>
            <a:r>
              <a:rPr dirty="0" err="1"/>
              <a:t>api</a:t>
            </a:r>
            <a:r>
              <a:rPr dirty="0"/>
              <a:t>/listings/${</a:t>
            </a:r>
            <a:r>
              <a:rPr dirty="0" err="1"/>
              <a:t>listing._id</a:t>
            </a:r>
            <a:r>
              <a:rPr dirty="0"/>
              <a:t>}`,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  { </a:t>
            </a:r>
            <a:r>
              <a:rPr dirty="0" err="1"/>
              <a:t>isListed</a:t>
            </a:r>
            <a:r>
              <a:rPr dirty="0"/>
              <a:t>: !</a:t>
            </a:r>
            <a:r>
              <a:rPr dirty="0" err="1"/>
              <a:t>listing.isListed</a:t>
            </a:r>
            <a:r>
              <a:rPr dirty="0"/>
              <a:t> }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);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</a:t>
            </a:r>
            <a:r>
              <a:rPr dirty="0" err="1"/>
              <a:t>fetchListings</a:t>
            </a:r>
            <a:r>
              <a:rPr dirty="0"/>
              <a:t>();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} catch (err) {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alert(</a:t>
            </a:r>
            <a:r>
              <a:rPr dirty="0" err="1"/>
              <a:t>err.response?.data?.message</a:t>
            </a:r>
            <a:r>
              <a:rPr dirty="0"/>
              <a:t> || "</a:t>
            </a:r>
            <a:r>
              <a:rPr dirty="0" err="1"/>
              <a:t>Помилка</a:t>
            </a:r>
            <a:r>
              <a:rPr dirty="0"/>
              <a:t>");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}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};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// </a:t>
            </a:r>
            <a:r>
              <a:rPr dirty="0" err="1"/>
              <a:t>Рендеринг</a:t>
            </a:r>
            <a:r>
              <a:rPr dirty="0"/>
              <a:t> </a:t>
            </a:r>
            <a:r>
              <a:rPr dirty="0" err="1"/>
              <a:t>списку</a:t>
            </a:r>
            <a:r>
              <a:rPr dirty="0"/>
              <a:t> у JSX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{</a:t>
            </a:r>
            <a:r>
              <a:rPr dirty="0" err="1"/>
              <a:t>filtered.map</a:t>
            </a:r>
            <a:r>
              <a:rPr dirty="0"/>
              <a:t>((listing) =&gt; (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&lt;div key={</a:t>
            </a:r>
            <a:r>
              <a:rPr dirty="0" err="1"/>
              <a:t>listing._id</a:t>
            </a:r>
            <a:r>
              <a:rPr dirty="0"/>
              <a:t>} </a:t>
            </a:r>
            <a:r>
              <a:rPr dirty="0" err="1"/>
              <a:t>className</a:t>
            </a:r>
            <a:r>
              <a:rPr dirty="0"/>
              <a:t>="p-4 flex gap-4"&gt;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&lt;</a:t>
            </a:r>
            <a:r>
              <a:rPr dirty="0" err="1"/>
              <a:t>img</a:t>
            </a:r>
            <a:r>
              <a:rPr dirty="0"/>
              <a:t> </a:t>
            </a:r>
            <a:r>
              <a:rPr dirty="0" err="1"/>
              <a:t>src</a:t>
            </a:r>
            <a:r>
              <a:rPr dirty="0"/>
              <a:t>={</a:t>
            </a:r>
            <a:r>
              <a:rPr dirty="0" err="1"/>
              <a:t>getCoverPhoto</a:t>
            </a:r>
            <a:r>
              <a:rPr dirty="0"/>
              <a:t>(listing)}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     </a:t>
            </a:r>
            <a:r>
              <a:rPr dirty="0" err="1"/>
              <a:t>className</a:t>
            </a:r>
            <a:r>
              <a:rPr dirty="0"/>
              <a:t>="w-44 h-28 object-cover" /&gt;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&lt;div </a:t>
            </a:r>
            <a:r>
              <a:rPr dirty="0" err="1"/>
              <a:t>className</a:t>
            </a:r>
            <a:r>
              <a:rPr dirty="0"/>
              <a:t>="flex-1"&gt;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  &lt;</a:t>
            </a:r>
            <a:r>
              <a:rPr dirty="0" err="1"/>
              <a:t>StatusPill</a:t>
            </a:r>
            <a:r>
              <a:rPr dirty="0"/>
              <a:t> listing={listing} /&gt;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  &lt;Link to={`/listing/${</a:t>
            </a:r>
            <a:r>
              <a:rPr dirty="0" err="1"/>
              <a:t>listing._id</a:t>
            </a:r>
            <a:r>
              <a:rPr dirty="0"/>
              <a:t>}`}&gt;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    {</a:t>
            </a:r>
            <a:r>
              <a:rPr dirty="0" err="1"/>
              <a:t>listing.title</a:t>
            </a:r>
            <a:r>
              <a:rPr dirty="0"/>
              <a:t>}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  &lt;/Link&gt;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&lt;/div&gt;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&lt;/div&gt;</a:t>
            </a:r>
            <a:r>
              <a:rPr lang="uk-UA" dirty="0"/>
              <a:t> </a:t>
            </a:r>
            <a:r>
              <a:rPr lang="ru-UA" dirty="0"/>
              <a:t>))}</a:t>
            </a:r>
          </a:p>
        </p:txBody>
      </p:sp>
      <p:pic>
        <p:nvPicPr>
          <p:cNvPr id="7" name="Google Shape;73;p14">
            <a:extLst>
              <a:ext uri="{FF2B5EF4-FFF2-40B4-BE49-F238E27FC236}">
                <a16:creationId xmlns:a16="http://schemas.microsoft.com/office/drawing/2014/main" id="{B6F382E3-2EF2-F782-459D-37258FE77D2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BF2CC3-FE27-CEAB-6E79-942182D42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550" y="1078718"/>
            <a:ext cx="4447560" cy="32417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186BF0-F52D-28FE-02B3-47A85504F16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14</a:t>
            </a:fld>
            <a:endParaRPr lang="uk-UA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075" y="61546"/>
            <a:ext cx="8520600" cy="831300"/>
          </a:xfrm>
        </p:spPr>
        <p:txBody>
          <a:bodyPr>
            <a:normAutofit/>
          </a:bodyPr>
          <a:lstStyle/>
          <a:p>
            <a:r>
              <a:rPr sz="2800" dirty="0" err="1"/>
              <a:t>Приклад</a:t>
            </a:r>
            <a:r>
              <a:rPr sz="2800" dirty="0"/>
              <a:t> </a:t>
            </a:r>
            <a:r>
              <a:rPr sz="2800" dirty="0" err="1"/>
              <a:t>інтерфейсу</a:t>
            </a:r>
            <a:r>
              <a:rPr sz="2800" dirty="0"/>
              <a:t>. </a:t>
            </a:r>
            <a:r>
              <a:rPr sz="2800" dirty="0" err="1"/>
              <a:t>Управління</a:t>
            </a:r>
            <a:r>
              <a:rPr sz="2800" dirty="0"/>
              <a:t> </a:t>
            </a:r>
            <a:r>
              <a:rPr sz="2800" dirty="0" err="1"/>
              <a:t>користувачами</a:t>
            </a:r>
            <a:endParaRPr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15950" y="895149"/>
            <a:ext cx="3840480" cy="33855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const </a:t>
            </a:r>
            <a:r>
              <a:rPr dirty="0" err="1"/>
              <a:t>toggleBlock</a:t>
            </a:r>
            <a:r>
              <a:rPr dirty="0"/>
              <a:t> = async (</a:t>
            </a:r>
            <a:r>
              <a:rPr dirty="0" err="1"/>
              <a:t>userId</a:t>
            </a:r>
            <a:r>
              <a:rPr dirty="0"/>
              <a:t>) =&gt; {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try {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await </a:t>
            </a:r>
            <a:r>
              <a:rPr dirty="0" err="1"/>
              <a:t>axios.patch</a:t>
            </a:r>
            <a:r>
              <a:rPr dirty="0"/>
              <a:t>(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  `/</a:t>
            </a:r>
            <a:r>
              <a:rPr dirty="0" err="1"/>
              <a:t>api</a:t>
            </a:r>
            <a:r>
              <a:rPr dirty="0"/>
              <a:t>/admin/users/${</a:t>
            </a:r>
            <a:r>
              <a:rPr dirty="0" err="1"/>
              <a:t>userId</a:t>
            </a:r>
            <a:r>
              <a:rPr dirty="0"/>
              <a:t>}/block`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);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</a:t>
            </a:r>
            <a:r>
              <a:rPr dirty="0" err="1"/>
              <a:t>fetchUsers</a:t>
            </a:r>
            <a:r>
              <a:rPr dirty="0"/>
              <a:t>();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} catch (err) {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</a:t>
            </a:r>
            <a:r>
              <a:rPr dirty="0" err="1"/>
              <a:t>console.error</a:t>
            </a:r>
            <a:r>
              <a:rPr dirty="0"/>
              <a:t>(err);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}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};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{</a:t>
            </a:r>
            <a:r>
              <a:rPr dirty="0" err="1"/>
              <a:t>users.map</a:t>
            </a:r>
            <a:r>
              <a:rPr dirty="0"/>
              <a:t>((user) =&gt; (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&lt;tr key={</a:t>
            </a:r>
            <a:r>
              <a:rPr dirty="0" err="1"/>
              <a:t>user._id</a:t>
            </a:r>
            <a:r>
              <a:rPr dirty="0"/>
              <a:t>}&gt;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&lt;td&gt;{user.name}&lt;/td&gt;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&lt;td&gt;{</a:t>
            </a:r>
            <a:r>
              <a:rPr dirty="0" err="1"/>
              <a:t>user.email</a:t>
            </a:r>
            <a:r>
              <a:rPr dirty="0"/>
              <a:t>}&lt;/td&gt;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&lt;td&gt;{</a:t>
            </a:r>
            <a:r>
              <a:rPr dirty="0" err="1"/>
              <a:t>user.role</a:t>
            </a:r>
            <a:r>
              <a:rPr dirty="0"/>
              <a:t>}&lt;/td&gt;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&lt;td&gt;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  {</a:t>
            </a:r>
            <a:r>
              <a:rPr dirty="0" err="1"/>
              <a:t>user.isBlocked</a:t>
            </a:r>
            <a:r>
              <a:rPr dirty="0"/>
              <a:t> ? "</a:t>
            </a:r>
            <a:r>
              <a:rPr dirty="0" err="1"/>
              <a:t>Блоковано</a:t>
            </a:r>
            <a:r>
              <a:rPr dirty="0"/>
              <a:t>" : "</a:t>
            </a:r>
            <a:r>
              <a:rPr dirty="0" err="1"/>
              <a:t>Активний</a:t>
            </a:r>
            <a:r>
              <a:rPr dirty="0"/>
              <a:t>"}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&lt;/td&gt;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&lt;td&gt;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  &lt;button </a:t>
            </a:r>
            <a:r>
              <a:rPr dirty="0" err="1"/>
              <a:t>onClick</a:t>
            </a:r>
            <a:r>
              <a:rPr dirty="0"/>
              <a:t>={() =&gt; </a:t>
            </a:r>
            <a:r>
              <a:rPr dirty="0" err="1"/>
              <a:t>toggleBlock</a:t>
            </a:r>
            <a:r>
              <a:rPr dirty="0"/>
              <a:t>(</a:t>
            </a:r>
            <a:r>
              <a:rPr dirty="0" err="1"/>
              <a:t>user._id</a:t>
            </a:r>
            <a:r>
              <a:rPr dirty="0"/>
              <a:t>)}&gt;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    {</a:t>
            </a:r>
            <a:r>
              <a:rPr dirty="0" err="1"/>
              <a:t>user.isBlocked</a:t>
            </a:r>
            <a:r>
              <a:rPr dirty="0"/>
              <a:t> ? "</a:t>
            </a:r>
            <a:r>
              <a:rPr dirty="0" err="1"/>
              <a:t>Розблок</a:t>
            </a:r>
            <a:r>
              <a:rPr dirty="0"/>
              <a:t>." : "</a:t>
            </a:r>
            <a:r>
              <a:rPr dirty="0" err="1"/>
              <a:t>Блок</a:t>
            </a:r>
            <a:r>
              <a:rPr dirty="0"/>
              <a:t>."}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  &lt;/button&gt;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  &lt;/td&gt;</a:t>
            </a:r>
          </a:p>
          <a:p>
            <a:pPr>
              <a:spcAft>
                <a:spcPts val="100"/>
              </a:spcAft>
              <a:defRPr sz="800">
                <a:latin typeface="Consolas"/>
              </a:defRPr>
            </a:pPr>
            <a:r>
              <a:rPr dirty="0"/>
              <a:t>  &lt;/tr&gt;</a:t>
            </a:r>
            <a:r>
              <a:rPr lang="uk-UA" dirty="0"/>
              <a:t> </a:t>
            </a:r>
            <a:r>
              <a:rPr lang="ru-UA" dirty="0"/>
              <a:t>))}</a:t>
            </a:r>
          </a:p>
        </p:txBody>
      </p:sp>
      <p:pic>
        <p:nvPicPr>
          <p:cNvPr id="5" name="Picture 4" descr="screenshot_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27781"/>
            <a:ext cx="4430370" cy="2768981"/>
          </a:xfrm>
          <a:prstGeom prst="rect">
            <a:avLst/>
          </a:prstGeom>
        </p:spPr>
      </p:pic>
      <p:pic>
        <p:nvPicPr>
          <p:cNvPr id="7" name="Google Shape;73;p14">
            <a:extLst>
              <a:ext uri="{FF2B5EF4-FFF2-40B4-BE49-F238E27FC236}">
                <a16:creationId xmlns:a16="http://schemas.microsoft.com/office/drawing/2014/main" id="{6ECF9777-11AC-6B06-332C-5383D5E4BEE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0AFE1C-3E83-0353-315A-8AF1B553A3A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15</a:t>
            </a:fld>
            <a:endParaRPr lang="uk-UA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Тестування</a:t>
            </a:r>
            <a:r>
              <a:rPr sz="2800" dirty="0"/>
              <a:t> </a:t>
            </a:r>
            <a:r>
              <a:rPr sz="2800" dirty="0" err="1"/>
              <a:t>розробленого</a:t>
            </a:r>
            <a:r>
              <a:rPr sz="2800" dirty="0"/>
              <a:t> </a:t>
            </a:r>
            <a:r>
              <a:rPr sz="2800" dirty="0" err="1"/>
              <a:t>модуля</a:t>
            </a:r>
            <a:endParaRPr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400">
                <a:latin typeface="Arial"/>
              </a:defRPr>
            </a:pPr>
            <a:r>
              <a:rPr dirty="0" err="1"/>
              <a:t>Методологія</a:t>
            </a:r>
            <a:r>
              <a:rPr dirty="0"/>
              <a:t>: </a:t>
            </a:r>
            <a:r>
              <a:rPr dirty="0" err="1"/>
              <a:t>Інтеграційне</a:t>
            </a:r>
            <a:r>
              <a:rPr dirty="0"/>
              <a:t> </a:t>
            </a:r>
            <a:r>
              <a:rPr dirty="0" err="1"/>
              <a:t>тестування</a:t>
            </a:r>
            <a:r>
              <a:rPr dirty="0"/>
              <a:t> API (</a:t>
            </a:r>
            <a:r>
              <a:rPr dirty="0" err="1"/>
              <a:t>маршрути</a:t>
            </a:r>
            <a:r>
              <a:rPr dirty="0"/>
              <a:t> </a:t>
            </a:r>
            <a:r>
              <a:rPr dirty="0" err="1"/>
              <a:t>авторизації</a:t>
            </a:r>
            <a:r>
              <a:rPr dirty="0"/>
              <a:t>, </a:t>
            </a:r>
            <a:r>
              <a:rPr dirty="0" err="1"/>
              <a:t>профілів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оголошень</a:t>
            </a:r>
            <a:r>
              <a:rPr dirty="0"/>
              <a:t>)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ручне</a:t>
            </a:r>
            <a:r>
              <a:rPr dirty="0"/>
              <a:t> </a:t>
            </a:r>
            <a:r>
              <a:rPr dirty="0" err="1"/>
              <a:t>функціональне</a:t>
            </a:r>
            <a:r>
              <a:rPr dirty="0"/>
              <a:t> </a:t>
            </a:r>
            <a:r>
              <a:rPr dirty="0" err="1"/>
              <a:t>тестування</a:t>
            </a:r>
            <a:r>
              <a:rPr dirty="0"/>
              <a:t> </a:t>
            </a:r>
            <a:r>
              <a:rPr dirty="0" err="1"/>
              <a:t>інтерфейсу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400">
                <a:latin typeface="Arial"/>
              </a:defRPr>
            </a:pPr>
            <a:r>
              <a:rPr dirty="0" err="1"/>
              <a:t>Результати</a:t>
            </a:r>
            <a:r>
              <a:rPr dirty="0"/>
              <a:t> </a:t>
            </a:r>
            <a:r>
              <a:rPr dirty="0" err="1"/>
              <a:t>перевірки</a:t>
            </a:r>
            <a:r>
              <a:rPr dirty="0"/>
              <a:t> </a:t>
            </a:r>
            <a:r>
              <a:rPr dirty="0" err="1"/>
              <a:t>реєстрації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latin typeface="Arial"/>
              </a:defRPr>
            </a:pPr>
            <a:r>
              <a:rPr dirty="0" err="1"/>
              <a:t>Блокування</a:t>
            </a:r>
            <a:r>
              <a:rPr dirty="0"/>
              <a:t> </a:t>
            </a:r>
            <a:r>
              <a:rPr dirty="0" err="1"/>
              <a:t>повторної</a:t>
            </a:r>
            <a:r>
              <a:rPr dirty="0"/>
              <a:t> </a:t>
            </a:r>
            <a:r>
              <a:rPr dirty="0" err="1"/>
              <a:t>реєстрації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одну</a:t>
            </a:r>
            <a:r>
              <a:rPr dirty="0"/>
              <a:t> </a:t>
            </a:r>
            <a:r>
              <a:rPr dirty="0" err="1"/>
              <a:t>пошту</a:t>
            </a:r>
            <a:r>
              <a:rPr dirty="0"/>
              <a:t> (</a:t>
            </a:r>
            <a:r>
              <a:rPr dirty="0" err="1"/>
              <a:t>помилка</a:t>
            </a:r>
            <a:r>
              <a:rPr dirty="0"/>
              <a:t> 400 Bad Request)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latin typeface="Arial"/>
              </a:defRPr>
            </a:pPr>
            <a:r>
              <a:rPr dirty="0" err="1"/>
              <a:t>Коректна</a:t>
            </a:r>
            <a:r>
              <a:rPr dirty="0"/>
              <a:t> </a:t>
            </a:r>
            <a:r>
              <a:rPr dirty="0" err="1"/>
              <a:t>обробка</a:t>
            </a:r>
            <a:r>
              <a:rPr dirty="0"/>
              <a:t> </a:t>
            </a:r>
            <a:r>
              <a:rPr dirty="0" err="1"/>
              <a:t>прострочених</a:t>
            </a:r>
            <a:r>
              <a:rPr dirty="0"/>
              <a:t> JWT (</a:t>
            </a:r>
            <a:r>
              <a:rPr dirty="0" err="1"/>
              <a:t>помилка</a:t>
            </a:r>
            <a:r>
              <a:rPr dirty="0"/>
              <a:t> 401 Unauthorized)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latin typeface="Arial"/>
              </a:defRPr>
            </a:pPr>
            <a:r>
              <a:rPr dirty="0" err="1"/>
              <a:t>Успішна</a:t>
            </a:r>
            <a:r>
              <a:rPr dirty="0"/>
              <a:t> </a:t>
            </a:r>
            <a:r>
              <a:rPr dirty="0" err="1"/>
              <a:t>верифікація</a:t>
            </a:r>
            <a:r>
              <a:rPr dirty="0"/>
              <a:t> 6-значних </a:t>
            </a:r>
            <a:r>
              <a:rPr dirty="0" err="1"/>
              <a:t>кодів</a:t>
            </a:r>
            <a:r>
              <a:rPr dirty="0"/>
              <a:t> у </a:t>
            </a:r>
            <a:r>
              <a:rPr dirty="0" err="1"/>
              <a:t>межах</a:t>
            </a:r>
            <a:r>
              <a:rPr dirty="0"/>
              <a:t> 60-хвилинного </a:t>
            </a:r>
            <a:r>
              <a:rPr dirty="0" err="1"/>
              <a:t>вікна</a:t>
            </a:r>
            <a:endParaRPr dirty="0"/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400">
                <a:latin typeface="Arial"/>
              </a:defRPr>
            </a:pPr>
            <a:r>
              <a:rPr dirty="0" err="1"/>
              <a:t>Результати</a:t>
            </a:r>
            <a:r>
              <a:rPr dirty="0"/>
              <a:t> </a:t>
            </a:r>
            <a:r>
              <a:rPr dirty="0" err="1"/>
              <a:t>перевірки</a:t>
            </a:r>
            <a:r>
              <a:rPr dirty="0"/>
              <a:t> </a:t>
            </a:r>
            <a:r>
              <a:rPr dirty="0" err="1"/>
              <a:t>оголошень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latin typeface="Arial"/>
              </a:defRPr>
            </a:pPr>
            <a:r>
              <a:rPr dirty="0"/>
              <a:t>Валідація </a:t>
            </a:r>
            <a:r>
              <a:rPr dirty="0" err="1"/>
              <a:t>лімітів</a:t>
            </a:r>
            <a:r>
              <a:rPr dirty="0"/>
              <a:t> Multer (</a:t>
            </a:r>
            <a:r>
              <a:rPr dirty="0" err="1"/>
              <a:t>файли</a:t>
            </a:r>
            <a:r>
              <a:rPr dirty="0"/>
              <a:t> </a:t>
            </a:r>
            <a:r>
              <a:rPr dirty="0" err="1"/>
              <a:t>більше</a:t>
            </a:r>
            <a:r>
              <a:rPr dirty="0"/>
              <a:t> 5 МБ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непідтримувані</a:t>
            </a:r>
            <a:r>
              <a:rPr dirty="0"/>
              <a:t> </a:t>
            </a:r>
            <a:r>
              <a:rPr dirty="0" err="1"/>
              <a:t>формати</a:t>
            </a:r>
            <a:r>
              <a:rPr dirty="0"/>
              <a:t> </a:t>
            </a:r>
            <a:r>
              <a:rPr dirty="0" err="1"/>
              <a:t>відхиляються</a:t>
            </a:r>
            <a:r>
              <a:rPr dirty="0"/>
              <a:t>)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latin typeface="Arial"/>
              </a:defRPr>
            </a:pPr>
            <a:r>
              <a:rPr dirty="0" err="1"/>
              <a:t>Перевірка</a:t>
            </a:r>
            <a:r>
              <a:rPr dirty="0"/>
              <a:t> </a:t>
            </a:r>
            <a:r>
              <a:rPr dirty="0" err="1"/>
              <a:t>геокодування</a:t>
            </a:r>
            <a:r>
              <a:rPr dirty="0"/>
              <a:t> </a:t>
            </a:r>
            <a:r>
              <a:rPr dirty="0" err="1"/>
              <a:t>Nominatim</a:t>
            </a:r>
            <a:r>
              <a:rPr dirty="0"/>
              <a:t> (</a:t>
            </a:r>
            <a:r>
              <a:rPr dirty="0" err="1"/>
              <a:t>автовизначення</a:t>
            </a:r>
            <a:r>
              <a:rPr dirty="0"/>
              <a:t> </a:t>
            </a:r>
            <a:r>
              <a:rPr dirty="0" err="1"/>
              <a:t>координат</a:t>
            </a:r>
            <a:r>
              <a:rPr dirty="0"/>
              <a:t> </a:t>
            </a:r>
            <a:r>
              <a:rPr dirty="0" err="1"/>
              <a:t>lat</a:t>
            </a:r>
            <a:r>
              <a:rPr dirty="0"/>
              <a:t>/</a:t>
            </a:r>
            <a:r>
              <a:rPr dirty="0" err="1"/>
              <a:t>lng</a:t>
            </a:r>
            <a:r>
              <a:rPr dirty="0"/>
              <a:t>)</a:t>
            </a:r>
          </a:p>
          <a:p>
            <a:pPr lvl="1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latin typeface="Arial"/>
              </a:defRPr>
            </a:pPr>
            <a:r>
              <a:rPr dirty="0" err="1"/>
              <a:t>Збереження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редагування</a:t>
            </a:r>
            <a:r>
              <a:rPr dirty="0"/>
              <a:t> </a:t>
            </a:r>
            <a:r>
              <a:rPr dirty="0" err="1"/>
              <a:t>тижневого</a:t>
            </a:r>
            <a:r>
              <a:rPr dirty="0"/>
              <a:t> </a:t>
            </a:r>
            <a:r>
              <a:rPr dirty="0" err="1"/>
              <a:t>календаря</a:t>
            </a:r>
            <a:r>
              <a:rPr dirty="0"/>
              <a:t> </a:t>
            </a:r>
            <a:r>
              <a:rPr dirty="0" err="1"/>
              <a:t>доступності</a:t>
            </a:r>
            <a:endParaRPr dirty="0"/>
          </a:p>
        </p:txBody>
      </p:sp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B8A4EDEB-680F-710F-8586-1FAD0223721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5E58F5-EAA9-B0D8-9832-06B254557C36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16</a:t>
            </a:fld>
            <a:endParaRPr lang="uk-UA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Аналіз</a:t>
            </a:r>
            <a:r>
              <a:rPr sz="2800" dirty="0"/>
              <a:t> </a:t>
            </a:r>
            <a:r>
              <a:rPr sz="2800" dirty="0" err="1"/>
              <a:t>отриманих</a:t>
            </a:r>
            <a:r>
              <a:rPr sz="2800" dirty="0"/>
              <a:t> </a:t>
            </a:r>
            <a:r>
              <a:rPr sz="2800" dirty="0" err="1"/>
              <a:t>результатів</a:t>
            </a:r>
            <a:endParaRPr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400">
                <a:latin typeface="Arial"/>
              </a:defRPr>
            </a:pPr>
            <a:r>
              <a:rPr dirty="0" err="1"/>
              <a:t>Зіставлення</a:t>
            </a:r>
            <a:r>
              <a:rPr dirty="0"/>
              <a:t> з </a:t>
            </a:r>
            <a:r>
              <a:rPr dirty="0" err="1"/>
              <a:t>вимогами</a:t>
            </a:r>
            <a:r>
              <a:rPr dirty="0"/>
              <a:t>: </a:t>
            </a:r>
            <a:r>
              <a:rPr dirty="0" err="1"/>
              <a:t>Успішно</a:t>
            </a:r>
            <a:r>
              <a:rPr dirty="0"/>
              <a:t> </a:t>
            </a:r>
            <a:r>
              <a:rPr dirty="0" err="1"/>
              <a:t>реалізовано</a:t>
            </a:r>
            <a:r>
              <a:rPr dirty="0"/>
              <a:t> </a:t>
            </a:r>
            <a:r>
              <a:rPr dirty="0" err="1"/>
              <a:t>всі</a:t>
            </a:r>
            <a:r>
              <a:rPr dirty="0"/>
              <a:t> 5 </a:t>
            </a:r>
            <a:r>
              <a:rPr dirty="0" err="1"/>
              <a:t>підсистем</a:t>
            </a:r>
            <a:r>
              <a:rPr dirty="0"/>
              <a:t> </a:t>
            </a:r>
            <a:r>
              <a:rPr dirty="0" err="1"/>
              <a:t>модуля</a:t>
            </a:r>
            <a:r>
              <a:rPr dirty="0"/>
              <a:t>. </a:t>
            </a:r>
            <a:r>
              <a:rPr dirty="0" err="1"/>
              <a:t>Модуль</a:t>
            </a:r>
            <a:r>
              <a:rPr dirty="0"/>
              <a:t> </a:t>
            </a:r>
            <a:r>
              <a:rPr dirty="0" err="1"/>
              <a:t>повністю</a:t>
            </a:r>
            <a:r>
              <a:rPr dirty="0"/>
              <a:t> </a:t>
            </a:r>
            <a:r>
              <a:rPr dirty="0" err="1"/>
              <a:t>інтегровано</a:t>
            </a:r>
            <a:r>
              <a:rPr dirty="0"/>
              <a:t> з </a:t>
            </a:r>
            <a:r>
              <a:rPr dirty="0" err="1"/>
              <a:t>підсистемою</a:t>
            </a:r>
            <a:r>
              <a:rPr dirty="0"/>
              <a:t> </a:t>
            </a:r>
            <a:r>
              <a:rPr dirty="0" err="1"/>
              <a:t>пошуку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бронювання</a:t>
            </a:r>
            <a:r>
              <a:rPr dirty="0"/>
              <a:t> </a:t>
            </a:r>
            <a:r>
              <a:rPr dirty="0" err="1"/>
              <a:t>партнера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400">
                <a:latin typeface="Arial"/>
              </a:defRPr>
            </a:pPr>
            <a:r>
              <a:rPr dirty="0" err="1"/>
              <a:t>Швидкодія</a:t>
            </a:r>
            <a:r>
              <a:rPr dirty="0"/>
              <a:t>: </a:t>
            </a:r>
            <a:r>
              <a:rPr dirty="0" err="1"/>
              <a:t>Індексований</a:t>
            </a:r>
            <a:r>
              <a:rPr dirty="0"/>
              <a:t> </a:t>
            </a:r>
            <a:r>
              <a:rPr dirty="0" err="1"/>
              <a:t>пошук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email, </a:t>
            </a:r>
            <a:r>
              <a:rPr dirty="0" err="1"/>
              <a:t>host_id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географічними</a:t>
            </a:r>
            <a:r>
              <a:rPr dirty="0"/>
              <a:t> </a:t>
            </a:r>
            <a:r>
              <a:rPr dirty="0" err="1"/>
              <a:t>координатами</a:t>
            </a:r>
            <a:r>
              <a:rPr dirty="0"/>
              <a:t> </a:t>
            </a:r>
            <a:r>
              <a:rPr dirty="0" err="1"/>
              <a:t>забезпечує</a:t>
            </a:r>
            <a:r>
              <a:rPr dirty="0"/>
              <a:t> </a:t>
            </a:r>
            <a:r>
              <a:rPr dirty="0" err="1"/>
              <a:t>час</a:t>
            </a:r>
            <a:r>
              <a:rPr dirty="0"/>
              <a:t> </a:t>
            </a:r>
            <a:r>
              <a:rPr dirty="0" err="1"/>
              <a:t>відповіді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150 </a:t>
            </a:r>
            <a:r>
              <a:rPr dirty="0" err="1"/>
              <a:t>мс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400">
                <a:latin typeface="Arial"/>
              </a:defRPr>
            </a:pPr>
            <a:r>
              <a:rPr dirty="0" err="1"/>
              <a:t>Безпека</a:t>
            </a:r>
            <a:r>
              <a:rPr dirty="0"/>
              <a:t>: </a:t>
            </a:r>
            <a:r>
              <a:rPr dirty="0" err="1"/>
              <a:t>Безпарольний</a:t>
            </a:r>
            <a:r>
              <a:rPr dirty="0"/>
              <a:t> </a:t>
            </a:r>
            <a:r>
              <a:rPr dirty="0" err="1"/>
              <a:t>вхід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JWT </a:t>
            </a:r>
            <a:r>
              <a:rPr dirty="0" err="1"/>
              <a:t>надійно</a:t>
            </a:r>
            <a:r>
              <a:rPr dirty="0"/>
              <a:t> </a:t>
            </a:r>
            <a:r>
              <a:rPr dirty="0" err="1"/>
              <a:t>захищають</a:t>
            </a:r>
            <a:r>
              <a:rPr dirty="0"/>
              <a:t> </a:t>
            </a:r>
            <a:r>
              <a:rPr dirty="0" err="1"/>
              <a:t>сесії</a:t>
            </a:r>
            <a:r>
              <a:rPr dirty="0"/>
              <a:t>; </a:t>
            </a:r>
            <a:r>
              <a:rPr dirty="0" err="1"/>
              <a:t>заблоковані</a:t>
            </a:r>
            <a:r>
              <a:rPr dirty="0"/>
              <a:t> </a:t>
            </a:r>
            <a:r>
              <a:rPr dirty="0" err="1"/>
              <a:t>користувачі</a:t>
            </a:r>
            <a:r>
              <a:rPr dirty="0"/>
              <a:t> (</a:t>
            </a:r>
            <a:r>
              <a:rPr dirty="0" err="1"/>
              <a:t>isBlocked</a:t>
            </a:r>
            <a:r>
              <a:rPr dirty="0"/>
              <a:t> = true) </a:t>
            </a:r>
            <a:r>
              <a:rPr dirty="0" err="1"/>
              <a:t>моментально</a:t>
            </a:r>
            <a:r>
              <a:rPr dirty="0"/>
              <a:t> </a:t>
            </a:r>
            <a:r>
              <a:rPr dirty="0" err="1"/>
              <a:t>втрачають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400">
                <a:latin typeface="Arial"/>
              </a:defRPr>
            </a:pPr>
            <a:r>
              <a:rPr dirty="0" err="1"/>
              <a:t>Обмеження</a:t>
            </a:r>
            <a:r>
              <a:rPr dirty="0"/>
              <a:t>: </a:t>
            </a:r>
            <a:r>
              <a:rPr dirty="0" err="1"/>
              <a:t>Збереження</a:t>
            </a:r>
            <a:r>
              <a:rPr dirty="0"/>
              <a:t> </a:t>
            </a:r>
            <a:r>
              <a:rPr dirty="0" err="1"/>
              <a:t>фото</a:t>
            </a:r>
            <a:r>
              <a:rPr dirty="0"/>
              <a:t> </a:t>
            </a:r>
            <a:r>
              <a:rPr dirty="0" err="1"/>
              <a:t>виконується</a:t>
            </a:r>
            <a:r>
              <a:rPr dirty="0"/>
              <a:t> </a:t>
            </a:r>
            <a:r>
              <a:rPr dirty="0" err="1"/>
              <a:t>локально</a:t>
            </a:r>
            <a:r>
              <a:rPr dirty="0"/>
              <a:t> (у </a:t>
            </a:r>
            <a:r>
              <a:rPr dirty="0" err="1"/>
              <a:t>майбутньому</a:t>
            </a:r>
            <a:r>
              <a:rPr dirty="0"/>
              <a:t> — </a:t>
            </a:r>
            <a:r>
              <a:rPr dirty="0" err="1"/>
              <a:t>міграція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AWS S3); </a:t>
            </a:r>
            <a:r>
              <a:rPr dirty="0" err="1"/>
              <a:t>календар</a:t>
            </a:r>
            <a:r>
              <a:rPr dirty="0"/>
              <a:t> </a:t>
            </a:r>
            <a:r>
              <a:rPr dirty="0" err="1"/>
              <a:t>обмежений</a:t>
            </a:r>
            <a:r>
              <a:rPr dirty="0"/>
              <a:t> </a:t>
            </a:r>
            <a:r>
              <a:rPr dirty="0" err="1"/>
              <a:t>фіксованим</a:t>
            </a:r>
            <a:r>
              <a:rPr dirty="0"/>
              <a:t> </a:t>
            </a:r>
            <a:r>
              <a:rPr dirty="0" err="1"/>
              <a:t>тижневим</a:t>
            </a:r>
            <a:r>
              <a:rPr dirty="0"/>
              <a:t> </a:t>
            </a:r>
            <a:r>
              <a:rPr dirty="0" err="1"/>
              <a:t>графіком</a:t>
            </a:r>
            <a:r>
              <a:rPr dirty="0"/>
              <a:t> (</a:t>
            </a:r>
            <a:r>
              <a:rPr dirty="0" err="1"/>
              <a:t>потрібна</a:t>
            </a:r>
            <a:r>
              <a:rPr dirty="0"/>
              <a:t> </a:t>
            </a:r>
            <a:r>
              <a:rPr dirty="0" err="1"/>
              <a:t>підтримка</a:t>
            </a:r>
            <a:r>
              <a:rPr dirty="0"/>
              <a:t> </a:t>
            </a:r>
            <a:r>
              <a:rPr dirty="0" err="1"/>
              <a:t>конкретних</a:t>
            </a:r>
            <a:r>
              <a:rPr dirty="0"/>
              <a:t> </a:t>
            </a:r>
            <a:r>
              <a:rPr dirty="0" err="1"/>
              <a:t>дат</a:t>
            </a:r>
            <a:r>
              <a:rPr dirty="0"/>
              <a:t>).</a:t>
            </a:r>
          </a:p>
        </p:txBody>
      </p:sp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38304A15-E3AB-646B-E6E7-03C1B10CBDA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DFAC53-64BB-457F-4A6E-28A2FC870A5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17</a:t>
            </a:fld>
            <a:endParaRPr lang="uk-UA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-34710"/>
            <a:ext cx="8520600" cy="831300"/>
          </a:xfrm>
        </p:spPr>
        <p:txBody>
          <a:bodyPr>
            <a:normAutofit/>
          </a:bodyPr>
          <a:lstStyle/>
          <a:p>
            <a:r>
              <a:rPr lang="uk-UA" sz="2800" dirty="0"/>
              <a:t>В</a:t>
            </a:r>
            <a:r>
              <a:rPr sz="2800" dirty="0" err="1"/>
              <a:t>исновки</a:t>
            </a:r>
            <a:endParaRPr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785213"/>
            <a:ext cx="8520600" cy="3354000"/>
          </a:xfrm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100">
                <a:latin typeface="Arial"/>
              </a:defRPr>
            </a:pPr>
            <a:r>
              <a:rPr lang="uk-UA" sz="1400" dirty="0"/>
              <a:t>Спроєктовано та реалізовано модуль </a:t>
            </a:r>
            <a:r>
              <a:rPr lang="en-US" sz="1400" dirty="0"/>
              <a:t>User &amp; Host </a:t>
            </a:r>
            <a:r>
              <a:rPr lang="uk-UA" sz="1400" dirty="0"/>
              <a:t>для платформи «</a:t>
            </a:r>
            <a:r>
              <a:rPr lang="en-US" sz="1400" dirty="0"/>
              <a:t>Basik» — </a:t>
            </a:r>
            <a:r>
              <a:rPr lang="uk-UA" sz="1400" dirty="0"/>
              <a:t>української платформи погодинної оренди приватних простір-локацій.</a:t>
            </a:r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100">
                <a:latin typeface="Arial"/>
              </a:defRPr>
            </a:pPr>
            <a:r>
              <a:rPr lang="uk-UA" sz="1400" dirty="0"/>
              <a:t>Побудовано </a:t>
            </a:r>
            <a:r>
              <a:rPr lang="en-US" sz="1400" dirty="0"/>
              <a:t>UML-</a:t>
            </a:r>
            <a:r>
              <a:rPr lang="uk-UA" sz="1400" dirty="0"/>
              <a:t>моделі (компонентну, розгортання, прецедентів, послідовності, класів та блок-схему алгоритму), спроєктовано документні моделі </a:t>
            </a:r>
            <a:r>
              <a:rPr lang="en-US" sz="1400" dirty="0"/>
              <a:t>User </a:t>
            </a:r>
            <a:r>
              <a:rPr lang="uk-UA" sz="1400" dirty="0"/>
              <a:t>та </a:t>
            </a:r>
            <a:r>
              <a:rPr lang="en-US" sz="1400" dirty="0"/>
              <a:t>Listing.</a:t>
            </a:r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100">
                <a:latin typeface="Arial"/>
              </a:defRPr>
            </a:pPr>
            <a:r>
              <a:rPr lang="uk-UA" sz="1400" dirty="0"/>
              <a:t>Імплементовано рольову модель користувачів (</a:t>
            </a:r>
            <a:r>
              <a:rPr lang="en-US" sz="1400" dirty="0"/>
              <a:t>Guest/Host/Admin), </a:t>
            </a:r>
            <a:r>
              <a:rPr lang="uk-UA" sz="1400" dirty="0"/>
              <a:t>безпарольну реєстрацію та підтвердження </a:t>
            </a:r>
            <a:r>
              <a:rPr lang="en-US" sz="1400" dirty="0"/>
              <a:t>email </a:t>
            </a:r>
            <a:r>
              <a:rPr lang="uk-UA" sz="1400" dirty="0"/>
              <a:t>шестизначним кодом із видачею </a:t>
            </a:r>
            <a:r>
              <a:rPr lang="en-US" sz="1400" dirty="0"/>
              <a:t>JWT, </a:t>
            </a:r>
            <a:r>
              <a:rPr lang="uk-UA" sz="1400" dirty="0"/>
              <a:t>автентифікацію </a:t>
            </a:r>
            <a:r>
              <a:rPr lang="en-US" sz="1400" dirty="0"/>
              <a:t>Google OAuth, </a:t>
            </a:r>
            <a:r>
              <a:rPr lang="uk-UA" sz="1400" dirty="0"/>
              <a:t>проміжні обробники </a:t>
            </a:r>
            <a:r>
              <a:rPr lang="en-US" sz="1400" dirty="0"/>
              <a:t>protect </a:t>
            </a:r>
            <a:r>
              <a:rPr lang="uk-UA" sz="1400" dirty="0"/>
              <a:t>і </a:t>
            </a:r>
            <a:r>
              <a:rPr lang="en-US" sz="1400" dirty="0" err="1"/>
              <a:t>checkAdmin</a:t>
            </a:r>
            <a:r>
              <a:rPr lang="en-US" sz="1400" dirty="0"/>
              <a:t>, </a:t>
            </a:r>
            <a:r>
              <a:rPr lang="uk-UA" sz="1400" dirty="0"/>
              <a:t>завантаження фото (</a:t>
            </a:r>
            <a:r>
              <a:rPr lang="en-US" sz="1400" dirty="0"/>
              <a:t>Multer), </a:t>
            </a:r>
            <a:r>
              <a:rPr lang="uk-UA" sz="1400" dirty="0"/>
              <a:t>геокодування адреси (</a:t>
            </a:r>
            <a:r>
              <a:rPr lang="en-US" sz="1400" dirty="0" err="1"/>
              <a:t>Nominatim</a:t>
            </a:r>
            <a:r>
              <a:rPr lang="en-US" sz="1400" dirty="0"/>
              <a:t>) </a:t>
            </a:r>
            <a:r>
              <a:rPr lang="uk-UA" sz="1400" dirty="0"/>
              <a:t>та календар доступності.</a:t>
            </a:r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100">
                <a:latin typeface="Arial"/>
              </a:defRPr>
            </a:pPr>
            <a:r>
              <a:rPr lang="uk-UA" sz="1400" dirty="0"/>
              <a:t>Модуль повністю інтегровано з підсистемою пошуку, бронювання та фінансів Д. Макарова через спільні колекції </a:t>
            </a:r>
            <a:r>
              <a:rPr lang="en-US" sz="1400" dirty="0"/>
              <a:t>users </a:t>
            </a:r>
            <a:r>
              <a:rPr lang="uk-UA" sz="1400" dirty="0"/>
              <a:t>і </a:t>
            </a:r>
            <a:r>
              <a:rPr lang="en-US" sz="1400" dirty="0"/>
              <a:t>listings.</a:t>
            </a:r>
          </a:p>
          <a:p>
            <a:pPr>
              <a:spcAft>
                <a:spcPts val="400"/>
              </a:spcAft>
              <a:buFont typeface="Open Sans" panose="020B0606030504020204" pitchFamily="34" charset="0"/>
              <a:buChar char="–"/>
              <a:defRPr sz="1100">
                <a:latin typeface="Arial"/>
              </a:defRPr>
            </a:pPr>
            <a:r>
              <a:rPr lang="uk-UA" sz="1400" dirty="0"/>
              <a:t>Подальший розвиток модуля передбачає додавання класичного входу за паролем, 2</a:t>
            </a:r>
            <a:r>
              <a:rPr lang="en-US" sz="1400" dirty="0"/>
              <a:t>FA, </a:t>
            </a:r>
            <a:r>
              <a:rPr lang="uk-UA" sz="1400" dirty="0"/>
              <a:t>завантаження аватара профілю та перенесення фотографій у хмарне сховище </a:t>
            </a:r>
            <a:r>
              <a:rPr lang="en-US" sz="1400" dirty="0"/>
              <a:t>AWS S3.</a:t>
            </a:r>
          </a:p>
        </p:txBody>
      </p:sp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24EC5530-DE5B-8FAA-F9AB-8BD2DBF19DB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648323-72E2-0267-10A0-2597ADBA20D3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18</a:t>
            </a:fld>
            <a:endParaRPr lang="uk-UA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872" y="360775"/>
            <a:ext cx="3779242" cy="3716212"/>
          </a:xfrm>
        </p:spPr>
        <p:txBody>
          <a:bodyPr>
            <a:normAutofit/>
          </a:bodyPr>
          <a:lstStyle/>
          <a:p>
            <a:r>
              <a:rPr sz="2800" dirty="0" err="1"/>
              <a:t>Дякую</a:t>
            </a:r>
            <a:r>
              <a:rPr sz="2800" dirty="0"/>
              <a:t> </a:t>
            </a:r>
            <a:r>
              <a:rPr sz="2800" dirty="0" err="1"/>
              <a:t>за</a:t>
            </a:r>
            <a:r>
              <a:rPr sz="2800" dirty="0"/>
              <a:t> </a:t>
            </a:r>
            <a:r>
              <a:rPr sz="2800" dirty="0" err="1"/>
              <a:t>увагу</a:t>
            </a:r>
            <a:r>
              <a:rPr sz="2800" dirty="0"/>
              <a:t>!</a:t>
            </a:r>
          </a:p>
          <a:p>
            <a:endParaRPr sz="2800" dirty="0"/>
          </a:p>
          <a:p>
            <a:r>
              <a:rPr sz="2800" dirty="0" err="1"/>
              <a:t>Вебмаркетплейс</a:t>
            </a:r>
            <a:r>
              <a:rPr sz="2800" dirty="0"/>
              <a:t> «Basik» </a:t>
            </a:r>
            <a:r>
              <a:rPr lang="uk-UA" sz="2800" dirty="0"/>
              <a:t>-</a:t>
            </a:r>
            <a:r>
              <a:rPr sz="2800" dirty="0"/>
              <a:t> </a:t>
            </a:r>
            <a:r>
              <a:rPr sz="2800" dirty="0" err="1"/>
              <a:t>простір</a:t>
            </a:r>
            <a:r>
              <a:rPr sz="2800" dirty="0"/>
              <a:t> </a:t>
            </a:r>
            <a:r>
              <a:rPr sz="2800" dirty="0" err="1"/>
              <a:t>для</a:t>
            </a:r>
            <a:r>
              <a:rPr sz="2800" dirty="0"/>
              <a:t> </a:t>
            </a:r>
            <a:r>
              <a:rPr sz="2800" dirty="0" err="1"/>
              <a:t>ваших</a:t>
            </a:r>
            <a:r>
              <a:rPr sz="2800" dirty="0"/>
              <a:t> </a:t>
            </a:r>
            <a:r>
              <a:rPr sz="2800" dirty="0" err="1"/>
              <a:t>ідей</a:t>
            </a:r>
            <a:r>
              <a:rPr sz="2800" dirty="0"/>
              <a:t>.</a:t>
            </a:r>
          </a:p>
          <a:p>
            <a:endParaRPr sz="2800" dirty="0"/>
          </a:p>
          <a:p>
            <a:r>
              <a:rPr sz="2800" dirty="0" err="1"/>
              <a:t>Доповідь</a:t>
            </a:r>
            <a:r>
              <a:rPr sz="2800" dirty="0"/>
              <a:t> </a:t>
            </a:r>
            <a:r>
              <a:rPr sz="2800" dirty="0" err="1"/>
              <a:t>закінчено</a:t>
            </a:r>
            <a:r>
              <a:rPr lang="uk-UA" sz="2800" dirty="0"/>
              <a:t>.</a:t>
            </a:r>
            <a:endParaRPr sz="2800" dirty="0"/>
          </a:p>
        </p:txBody>
      </p:sp>
      <p:pic>
        <p:nvPicPr>
          <p:cNvPr id="3" name="Google Shape;73;p14">
            <a:extLst>
              <a:ext uri="{FF2B5EF4-FFF2-40B4-BE49-F238E27FC236}">
                <a16:creationId xmlns:a16="http://schemas.microsoft.com/office/drawing/2014/main" id="{567F4F7C-C874-FB9A-D8C4-C24F3C18C1D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Marketplace - Free commerce icons">
            <a:extLst>
              <a:ext uri="{FF2B5EF4-FFF2-40B4-BE49-F238E27FC236}">
                <a16:creationId xmlns:a16="http://schemas.microsoft.com/office/drawing/2014/main" id="{D67D0852-4322-9B83-0F35-72BC40BE4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967" y="1117647"/>
            <a:ext cx="2656831" cy="26568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B4057B-103A-5C4D-5717-BD645048B20E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19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1714</Words>
  <Application>Microsoft Office PowerPoint</Application>
  <PresentationFormat>On-screen Show (16:9)</PresentationFormat>
  <Paragraphs>238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Open Sans</vt:lpstr>
      <vt:lpstr>Economica</vt:lpstr>
      <vt:lpstr>Шаблон презентації кваліфікаційної роботи магістрів</vt:lpstr>
      <vt:lpstr>Вебмаркетплейс «Basik» для погодинної оренди приватних простір-локацій</vt:lpstr>
      <vt:lpstr>Мета та актуальність роботи</vt:lpstr>
      <vt:lpstr>Аналіз аналогів програмного забезпечення</vt:lpstr>
      <vt:lpstr>Постановка задачі: Завдання розробки</vt:lpstr>
      <vt:lpstr>Функціональні вимоги до модуля</vt:lpstr>
      <vt:lpstr>Засоби та технології розробки</vt:lpstr>
      <vt:lpstr>Архітектура створеного програмного забезпечення</vt:lpstr>
      <vt:lpstr>Схема розгортання та бази даних</vt:lpstr>
      <vt:lpstr>Діаграми варіантів використання</vt:lpstr>
      <vt:lpstr>Приклад інтерфейсу. Сторінка входу</vt:lpstr>
      <vt:lpstr>Приклад інтерфейсу. Реєстрація користувача</vt:lpstr>
      <vt:lpstr>Приклад інтерфейсу. Сторінка профілю</vt:lpstr>
      <vt:lpstr>Приклад інтерфейсу. Додавання локації</vt:lpstr>
      <vt:lpstr>Приклад інтерфейсу. Керування оголошеннями</vt:lpstr>
      <vt:lpstr>Приклад інтерфейсу. Управління користувачами</vt:lpstr>
      <vt:lpstr>Тестування розробленого модуля</vt:lpstr>
      <vt:lpstr>Аналіз отриманих результатів</vt:lpstr>
      <vt:lpstr>Висновки</vt:lpstr>
      <vt:lpstr>Дякую за увагу!  Вебмаркетплейс «Basik» - простір для ваших ідей.  Доповідь закінчено.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роботи</dc:title>
  <dc:creator>Lexin</dc:creator>
  <cp:lastModifiedBy>Олександр Куликов</cp:lastModifiedBy>
  <cp:revision>31</cp:revision>
  <dcterms:created xsi:type="dcterms:W3CDTF">2024-10-03T11:39:34Z</dcterms:created>
  <dcterms:modified xsi:type="dcterms:W3CDTF">2026-06-13T07:40:19Z</dcterms:modified>
</cp:coreProperties>
</file>