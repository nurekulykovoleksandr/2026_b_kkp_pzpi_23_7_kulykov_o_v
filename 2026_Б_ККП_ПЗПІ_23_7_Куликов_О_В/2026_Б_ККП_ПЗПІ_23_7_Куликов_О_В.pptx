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Economica" panose="020B0604020202020204" charset="0"/>
      <p:regular r:id="rId18"/>
      <p:bold r:id="rId19"/>
      <p:italic r:id="rId20"/>
      <p:boldItalic r:id="rId21"/>
    </p:embeddedFont>
    <p:embeddedFont>
      <p:font typeface="Open Sans" panose="020B0606030504020204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ru-UA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ru-UA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4700" y="886898"/>
            <a:ext cx="3054600" cy="1028903"/>
          </a:xfrm>
        </p:spPr>
        <p:txBody>
          <a:bodyPr>
            <a:noAutofit/>
          </a:bodyPr>
          <a:lstStyle/>
          <a:p>
            <a:r>
              <a:rPr sz="1800" dirty="0" err="1"/>
              <a:t>Вебмаркетплейс</a:t>
            </a:r>
            <a:r>
              <a:rPr sz="1800" dirty="0"/>
              <a:t> «Basik» </a:t>
            </a:r>
            <a:r>
              <a:rPr sz="1800" dirty="0" err="1"/>
              <a:t>для</a:t>
            </a:r>
            <a:r>
              <a:rPr sz="1800" dirty="0"/>
              <a:t> </a:t>
            </a:r>
            <a:r>
              <a:rPr sz="1800" dirty="0" err="1"/>
              <a:t>погодинної</a:t>
            </a:r>
            <a:r>
              <a:rPr sz="1800" dirty="0"/>
              <a:t> </a:t>
            </a:r>
            <a:r>
              <a:rPr sz="1800" dirty="0" err="1"/>
              <a:t>оренди</a:t>
            </a:r>
            <a:r>
              <a:rPr sz="1800" dirty="0"/>
              <a:t> </a:t>
            </a:r>
            <a:r>
              <a:rPr sz="1800" dirty="0" err="1"/>
              <a:t>приватних</a:t>
            </a:r>
            <a:r>
              <a:rPr sz="1800" dirty="0"/>
              <a:t> </a:t>
            </a:r>
            <a:r>
              <a:rPr sz="1800" dirty="0" err="1"/>
              <a:t>простір-локацій</a:t>
            </a:r>
            <a:endParaRPr sz="1800" dirty="0"/>
          </a:p>
        </p:txBody>
      </p:sp>
      <p:pic>
        <p:nvPicPr>
          <p:cNvPr id="4" name="Google Shape;64;p13">
            <a:extLst>
              <a:ext uri="{FF2B5EF4-FFF2-40B4-BE49-F238E27FC236}">
                <a16:creationId xmlns:a16="http://schemas.microsoft.com/office/drawing/2014/main" id="{78E4698F-A980-2F02-F32E-813284F80DC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65;p13">
            <a:extLst>
              <a:ext uri="{FF2B5EF4-FFF2-40B4-BE49-F238E27FC236}">
                <a16:creationId xmlns:a16="http://schemas.microsoft.com/office/drawing/2014/main" id="{3F3B0DB2-C423-DE32-2106-4801450D7C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66;p13">
            <a:extLst>
              <a:ext uri="{FF2B5EF4-FFF2-40B4-BE49-F238E27FC236}">
                <a16:creationId xmlns:a16="http://schemas.microsoft.com/office/drawing/2014/main" id="{F2BCF409-1FED-92E3-664E-87F6E4EDF93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Subtitle 8">
            <a:extLst>
              <a:ext uri="{FF2B5EF4-FFF2-40B4-BE49-F238E27FC236}">
                <a16:creationId xmlns:a16="http://schemas.microsoft.com/office/drawing/2014/main" id="{CAA98CC7-4549-6A72-6CE1-E8511B0D1D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4700" y="2121654"/>
            <a:ext cx="3054600" cy="852094"/>
          </a:xfrm>
        </p:spPr>
        <p:txBody>
          <a:bodyPr>
            <a:noAutofit/>
          </a:bodyPr>
          <a:lstStyle/>
          <a:p>
            <a:pPr algn="r"/>
            <a:r>
              <a:rPr lang="uk-UA" sz="1800" dirty="0"/>
              <a:t>Куликов Олександр Віталійович</a:t>
            </a:r>
            <a:br>
              <a:rPr lang="uk-UA" sz="1800" dirty="0"/>
            </a:br>
            <a:r>
              <a:rPr lang="uk-UA" sz="1800" dirty="0"/>
              <a:t>ПЗПІ-23-7</a:t>
            </a:r>
            <a:endParaRPr lang="ru-UA" sz="1800" dirty="0"/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378FEA1B-87FB-BD7B-884A-E08A7BBA72E3}"/>
              </a:ext>
            </a:extLst>
          </p:cNvPr>
          <p:cNvSpPr txBox="1">
            <a:spLocks/>
          </p:cNvSpPr>
          <p:nvPr/>
        </p:nvSpPr>
        <p:spPr>
          <a:xfrm>
            <a:off x="3044700" y="3247207"/>
            <a:ext cx="3054600" cy="112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algn="r"/>
            <a:r>
              <a:rPr lang="uk-UA" sz="1800" dirty="0"/>
              <a:t>Керівник:</a:t>
            </a:r>
          </a:p>
          <a:p>
            <a:pPr algn="r"/>
            <a:r>
              <a:rPr lang="uk-UA" sz="1800" dirty="0"/>
              <a:t>ст. викл. каф. ПІ</a:t>
            </a:r>
          </a:p>
          <a:p>
            <a:pPr algn="r"/>
            <a:r>
              <a:rPr lang="uk-UA" sz="1800" dirty="0"/>
              <a:t>Катерина Вікторівна Зибіна</a:t>
            </a:r>
            <a:endParaRPr lang="ru-UA" sz="1800" dirty="0"/>
          </a:p>
        </p:txBody>
      </p:sp>
      <p:sp>
        <p:nvSpPr>
          <p:cNvPr id="3" name="Subtitle 8">
            <a:extLst>
              <a:ext uri="{FF2B5EF4-FFF2-40B4-BE49-F238E27FC236}">
                <a16:creationId xmlns:a16="http://schemas.microsoft.com/office/drawing/2014/main" id="{A28C3D31-DACA-7E71-E2F4-EA7865CF0102}"/>
              </a:ext>
            </a:extLst>
          </p:cNvPr>
          <p:cNvSpPr txBox="1">
            <a:spLocks/>
          </p:cNvSpPr>
          <p:nvPr/>
        </p:nvSpPr>
        <p:spPr>
          <a:xfrm>
            <a:off x="3416464" y="4485600"/>
            <a:ext cx="2311071" cy="65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uk-UA" sz="1800" dirty="0"/>
              <a:t>10 червня 2026</a:t>
            </a:r>
            <a:endParaRPr lang="ru-U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Постановка</a:t>
            </a:r>
            <a:r>
              <a:rPr sz="2800" dirty="0"/>
              <a:t> </a:t>
            </a:r>
            <a:r>
              <a:rPr sz="2800" dirty="0" err="1"/>
              <a:t>задачі</a:t>
            </a:r>
            <a:r>
              <a:rPr sz="2800" dirty="0"/>
              <a:t>: </a:t>
            </a:r>
            <a:r>
              <a:rPr sz="2800" dirty="0" err="1"/>
              <a:t>Мета</a:t>
            </a:r>
            <a:r>
              <a:rPr sz="2800" dirty="0"/>
              <a:t> </a:t>
            </a:r>
            <a:r>
              <a:rPr sz="2800" dirty="0" err="1"/>
              <a:t>та</a:t>
            </a:r>
            <a:r>
              <a:rPr sz="2800" dirty="0"/>
              <a:t> </a:t>
            </a:r>
            <a:r>
              <a:rPr sz="2800" dirty="0" err="1"/>
              <a:t>завдання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Мета</a:t>
            </a:r>
            <a:r>
              <a:rPr dirty="0"/>
              <a:t>: </a:t>
            </a:r>
            <a:r>
              <a:rPr dirty="0" err="1"/>
              <a:t>Проєктування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розробка</a:t>
            </a:r>
            <a:r>
              <a:rPr dirty="0"/>
              <a:t> </a:t>
            </a:r>
            <a:r>
              <a:rPr dirty="0" err="1"/>
              <a:t>модуля</a:t>
            </a:r>
            <a:r>
              <a:rPr dirty="0"/>
              <a:t> </a:t>
            </a:r>
            <a:r>
              <a:rPr dirty="0" err="1"/>
              <a:t>управління</a:t>
            </a:r>
            <a:r>
              <a:rPr dirty="0"/>
              <a:t> </a:t>
            </a:r>
            <a:r>
              <a:rPr dirty="0" err="1"/>
              <a:t>користувачами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контентом</a:t>
            </a:r>
            <a:r>
              <a:rPr dirty="0"/>
              <a:t> (User &amp; Host Module)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маркетплейсу</a:t>
            </a:r>
            <a:r>
              <a:rPr dirty="0"/>
              <a:t> «Basik»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Завдання</a:t>
            </a:r>
            <a:r>
              <a:rPr dirty="0"/>
              <a:t> </a:t>
            </a:r>
            <a:r>
              <a:rPr dirty="0" err="1"/>
              <a:t>розробки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Створення</a:t>
            </a:r>
            <a:r>
              <a:rPr dirty="0"/>
              <a:t> </a:t>
            </a:r>
            <a:r>
              <a:rPr dirty="0" err="1"/>
              <a:t>документної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 </a:t>
            </a:r>
            <a:r>
              <a:rPr dirty="0" err="1"/>
              <a:t>даних</a:t>
            </a:r>
            <a:r>
              <a:rPr dirty="0"/>
              <a:t> MongoDB (</a:t>
            </a:r>
            <a:r>
              <a:rPr dirty="0" err="1"/>
              <a:t>користувачі</a:t>
            </a:r>
            <a:r>
              <a:rPr dirty="0"/>
              <a:t>, </a:t>
            </a:r>
            <a:r>
              <a:rPr dirty="0" err="1"/>
              <a:t>оголошення</a:t>
            </a:r>
            <a:r>
              <a:rPr dirty="0"/>
              <a:t>, </a:t>
            </a:r>
            <a:r>
              <a:rPr dirty="0" err="1"/>
              <a:t>календар</a:t>
            </a:r>
            <a:r>
              <a:rPr dirty="0"/>
              <a:t>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Реалізація</a:t>
            </a:r>
            <a:r>
              <a:rPr dirty="0"/>
              <a:t> API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безпарольного</a:t>
            </a:r>
            <a:r>
              <a:rPr dirty="0"/>
              <a:t> </a:t>
            </a:r>
            <a:r>
              <a:rPr dirty="0" err="1"/>
              <a:t>входу</a:t>
            </a:r>
            <a:r>
              <a:rPr dirty="0"/>
              <a:t> (</a:t>
            </a:r>
            <a:r>
              <a:rPr dirty="0" err="1"/>
              <a:t>генерація</a:t>
            </a:r>
            <a:r>
              <a:rPr dirty="0"/>
              <a:t> </a:t>
            </a:r>
            <a:r>
              <a:rPr dirty="0" err="1"/>
              <a:t>кодів</a:t>
            </a:r>
            <a:r>
              <a:rPr dirty="0"/>
              <a:t>, SMTP Brevo) </a:t>
            </a:r>
            <a:r>
              <a:rPr dirty="0" err="1"/>
              <a:t>та</a:t>
            </a:r>
            <a:r>
              <a:rPr dirty="0"/>
              <a:t> Google OAuth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Реалізація</a:t>
            </a:r>
            <a:r>
              <a:rPr dirty="0"/>
              <a:t> JWT-</a:t>
            </a:r>
            <a:r>
              <a:rPr dirty="0" err="1"/>
              <a:t>автентифікації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захисту</a:t>
            </a:r>
            <a:r>
              <a:rPr dirty="0"/>
              <a:t> </a:t>
            </a:r>
            <a:r>
              <a:rPr dirty="0" err="1"/>
              <a:t>маршрутів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бекенді</a:t>
            </a:r>
            <a:endParaRPr dirty="0"/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Реалізація</a:t>
            </a:r>
            <a:r>
              <a:rPr dirty="0"/>
              <a:t> </a:t>
            </a:r>
            <a:r>
              <a:rPr dirty="0" err="1"/>
              <a:t>кабінету</a:t>
            </a:r>
            <a:r>
              <a:rPr dirty="0"/>
              <a:t> </a:t>
            </a:r>
            <a:r>
              <a:rPr dirty="0" err="1"/>
              <a:t>власника</a:t>
            </a:r>
            <a:r>
              <a:rPr dirty="0"/>
              <a:t> (</a:t>
            </a:r>
            <a:r>
              <a:rPr dirty="0" err="1"/>
              <a:t>створення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, </a:t>
            </a:r>
            <a:r>
              <a:rPr dirty="0" err="1"/>
              <a:t>фото</a:t>
            </a:r>
            <a:r>
              <a:rPr dirty="0"/>
              <a:t>, </a:t>
            </a:r>
            <a:r>
              <a:rPr dirty="0" err="1"/>
              <a:t>Nominatim</a:t>
            </a:r>
            <a:r>
              <a:rPr dirty="0"/>
              <a:t> API)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Створення</a:t>
            </a:r>
            <a:r>
              <a:rPr dirty="0"/>
              <a:t> </a:t>
            </a:r>
            <a:r>
              <a:rPr dirty="0" err="1"/>
              <a:t>клієнтського</a:t>
            </a:r>
            <a:r>
              <a:rPr dirty="0"/>
              <a:t> </a:t>
            </a:r>
            <a:r>
              <a:rPr dirty="0" err="1"/>
              <a:t>інтерфейсу</a:t>
            </a:r>
            <a:r>
              <a:rPr dirty="0"/>
              <a:t> (React, Tailwind CSS)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D1C4E089-313E-0518-5418-BF3C5AD6B84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2773BE-71B0-FB9F-6EE1-7DDD53EE1BD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Функціональні</a:t>
            </a:r>
            <a:r>
              <a:rPr sz="2800" dirty="0"/>
              <a:t> </a:t>
            </a:r>
            <a:r>
              <a:rPr sz="2800" dirty="0" err="1"/>
              <a:t>вимоги</a:t>
            </a:r>
            <a:r>
              <a:rPr sz="2800" dirty="0"/>
              <a:t> </a:t>
            </a:r>
            <a:r>
              <a:rPr sz="2800" dirty="0" err="1"/>
              <a:t>до</a:t>
            </a:r>
            <a:r>
              <a:rPr sz="2800" dirty="0"/>
              <a:t> </a:t>
            </a:r>
            <a:r>
              <a:rPr sz="2800" dirty="0" err="1"/>
              <a:t>модуля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Реєстрація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вхід</a:t>
            </a:r>
            <a:r>
              <a:rPr dirty="0"/>
              <a:t>: Введення </a:t>
            </a:r>
            <a:r>
              <a:rPr dirty="0" err="1"/>
              <a:t>імені</a:t>
            </a:r>
            <a:r>
              <a:rPr dirty="0"/>
              <a:t>, email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ролі</a:t>
            </a:r>
            <a:r>
              <a:rPr dirty="0"/>
              <a:t>. </a:t>
            </a:r>
            <a:r>
              <a:rPr dirty="0" err="1"/>
              <a:t>Одноразовий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діє</a:t>
            </a:r>
            <a:r>
              <a:rPr dirty="0"/>
              <a:t> 60 </a:t>
            </a:r>
            <a:r>
              <a:rPr dirty="0" err="1"/>
              <a:t>хв</a:t>
            </a:r>
            <a:r>
              <a:rPr dirty="0"/>
              <a:t>. </a:t>
            </a:r>
            <a:r>
              <a:rPr dirty="0" err="1"/>
              <a:t>Вхід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Google OAuth з </a:t>
            </a:r>
            <a:r>
              <a:rPr dirty="0" err="1"/>
              <a:t>автоматичним</a:t>
            </a:r>
            <a:r>
              <a:rPr dirty="0"/>
              <a:t> </a:t>
            </a:r>
            <a:r>
              <a:rPr dirty="0" err="1"/>
              <a:t>зв'язуванням</a:t>
            </a:r>
            <a:r>
              <a:rPr dirty="0"/>
              <a:t> </a:t>
            </a:r>
            <a:r>
              <a:rPr dirty="0" err="1"/>
              <a:t>профілів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Профілі</a:t>
            </a:r>
            <a:r>
              <a:rPr dirty="0"/>
              <a:t>: </a:t>
            </a:r>
            <a:r>
              <a:rPr dirty="0" err="1"/>
              <a:t>Перегляд</a:t>
            </a:r>
            <a:r>
              <a:rPr dirty="0"/>
              <a:t> GET /</a:t>
            </a:r>
            <a:r>
              <a:rPr dirty="0" err="1"/>
              <a:t>api</a:t>
            </a:r>
            <a:r>
              <a:rPr dirty="0"/>
              <a:t>/users/me (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хешу</a:t>
            </a:r>
            <a:r>
              <a:rPr dirty="0"/>
              <a:t> </a:t>
            </a:r>
            <a:r>
              <a:rPr dirty="0" err="1"/>
              <a:t>пароля</a:t>
            </a:r>
            <a:r>
              <a:rPr dirty="0"/>
              <a:t>)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редагування</a:t>
            </a:r>
            <a:r>
              <a:rPr dirty="0"/>
              <a:t> PATCH /</a:t>
            </a:r>
            <a:r>
              <a:rPr dirty="0" err="1"/>
              <a:t>api</a:t>
            </a:r>
            <a:r>
              <a:rPr dirty="0"/>
              <a:t>/users/me (</a:t>
            </a:r>
            <a:r>
              <a:rPr dirty="0" err="1"/>
              <a:t>ім'я</a:t>
            </a:r>
            <a:r>
              <a:rPr dirty="0"/>
              <a:t>, </a:t>
            </a:r>
            <a:r>
              <a:rPr dirty="0" err="1"/>
              <a:t>телефон</a:t>
            </a:r>
            <a:r>
              <a:rPr dirty="0"/>
              <a:t>, </a:t>
            </a:r>
            <a:r>
              <a:rPr dirty="0" err="1"/>
              <a:t>стать</a:t>
            </a:r>
            <a:r>
              <a:rPr dirty="0"/>
              <a:t>, </a:t>
            </a:r>
            <a:r>
              <a:rPr dirty="0" err="1"/>
              <a:t>дата</a:t>
            </a:r>
            <a:r>
              <a:rPr dirty="0"/>
              <a:t> </a:t>
            </a:r>
            <a:r>
              <a:rPr dirty="0" err="1"/>
              <a:t>народження</a:t>
            </a:r>
            <a:r>
              <a:rPr dirty="0"/>
              <a:t>).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Створення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: </a:t>
            </a:r>
            <a:r>
              <a:rPr dirty="0" err="1"/>
              <a:t>Форма</a:t>
            </a:r>
            <a:r>
              <a:rPr dirty="0"/>
              <a:t> з </a:t>
            </a:r>
            <a:r>
              <a:rPr dirty="0" err="1"/>
              <a:t>описом</a:t>
            </a:r>
            <a:r>
              <a:rPr dirty="0"/>
              <a:t>, </a:t>
            </a:r>
            <a:r>
              <a:rPr dirty="0" err="1"/>
              <a:t>ціною</a:t>
            </a:r>
            <a:r>
              <a:rPr dirty="0"/>
              <a:t>, </a:t>
            </a:r>
            <a:r>
              <a:rPr dirty="0" err="1"/>
              <a:t>зручностями</a:t>
            </a:r>
            <a:r>
              <a:rPr dirty="0"/>
              <a:t>, </a:t>
            </a:r>
            <a:r>
              <a:rPr dirty="0" err="1"/>
              <a:t>правилами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завантаженням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10 </a:t>
            </a:r>
            <a:r>
              <a:rPr dirty="0" err="1"/>
              <a:t>фотографій</a:t>
            </a:r>
            <a:r>
              <a:rPr dirty="0"/>
              <a:t> (Multer).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Календар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ціноутворення</a:t>
            </a:r>
            <a:r>
              <a:rPr dirty="0"/>
              <a:t>: </a:t>
            </a:r>
            <a:r>
              <a:rPr dirty="0" err="1"/>
              <a:t>Налаштування</a:t>
            </a:r>
            <a:r>
              <a:rPr dirty="0"/>
              <a:t> </a:t>
            </a:r>
            <a:r>
              <a:rPr dirty="0" err="1"/>
              <a:t>тижневого</a:t>
            </a:r>
            <a:r>
              <a:rPr dirty="0"/>
              <a:t> </a:t>
            </a:r>
            <a:r>
              <a:rPr dirty="0" err="1"/>
              <a:t>розкладу</a:t>
            </a:r>
            <a:r>
              <a:rPr dirty="0"/>
              <a:t> </a:t>
            </a:r>
            <a:r>
              <a:rPr dirty="0" err="1"/>
              <a:t>доступності</a:t>
            </a:r>
            <a:r>
              <a:rPr dirty="0"/>
              <a:t> (</a:t>
            </a:r>
            <a:r>
              <a:rPr dirty="0" err="1"/>
              <a:t>години</a:t>
            </a:r>
            <a:r>
              <a:rPr dirty="0"/>
              <a:t> </a:t>
            </a:r>
            <a:r>
              <a:rPr dirty="0" err="1"/>
              <a:t>роботи</a:t>
            </a:r>
            <a:r>
              <a:rPr dirty="0"/>
              <a:t>)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ціни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годину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Модерація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контроль</a:t>
            </a:r>
            <a:r>
              <a:rPr dirty="0"/>
              <a:t> </a:t>
            </a:r>
            <a:r>
              <a:rPr dirty="0" err="1"/>
              <a:t>доступу</a:t>
            </a:r>
            <a:r>
              <a:rPr dirty="0"/>
              <a:t>: </a:t>
            </a:r>
            <a:r>
              <a:rPr dirty="0" err="1"/>
              <a:t>Оголошення</a:t>
            </a:r>
            <a:r>
              <a:rPr dirty="0"/>
              <a:t> </a:t>
            </a:r>
            <a:r>
              <a:rPr dirty="0" err="1"/>
              <a:t>потребують</a:t>
            </a:r>
            <a:r>
              <a:rPr dirty="0"/>
              <a:t> </a:t>
            </a:r>
            <a:r>
              <a:rPr dirty="0" err="1"/>
              <a:t>схвалення</a:t>
            </a:r>
            <a:r>
              <a:rPr dirty="0"/>
              <a:t> Admin (</a:t>
            </a:r>
            <a:r>
              <a:rPr dirty="0" err="1"/>
              <a:t>isApproved</a:t>
            </a:r>
            <a:r>
              <a:rPr dirty="0"/>
              <a:t> = false). </a:t>
            </a:r>
            <a:r>
              <a:rPr dirty="0" err="1"/>
              <a:t>Заблоковані</a:t>
            </a:r>
            <a:r>
              <a:rPr dirty="0"/>
              <a:t> </a:t>
            </a:r>
            <a:r>
              <a:rPr dirty="0" err="1"/>
              <a:t>користувачі</a:t>
            </a:r>
            <a:r>
              <a:rPr dirty="0"/>
              <a:t> (</a:t>
            </a:r>
            <a:r>
              <a:rPr dirty="0" err="1"/>
              <a:t>isBlocked</a:t>
            </a:r>
            <a:r>
              <a:rPr dirty="0"/>
              <a:t> = true) </a:t>
            </a:r>
            <a:r>
              <a:rPr dirty="0" err="1"/>
              <a:t>втрачають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.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EBDA2E28-7F88-D8EE-0C1A-5EDCB4D02D1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096C1A-2FA8-75DC-ACE1-4FB1F1BC06A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Архітектура</a:t>
            </a:r>
            <a:r>
              <a:rPr sz="2800" dirty="0"/>
              <a:t> </a:t>
            </a:r>
            <a:r>
              <a:rPr sz="2800" dirty="0" err="1"/>
              <a:t>створеного</a:t>
            </a:r>
            <a:r>
              <a:rPr sz="2800" dirty="0"/>
              <a:t> </a:t>
            </a:r>
            <a:r>
              <a:rPr sz="2800" dirty="0" err="1"/>
              <a:t>програмного</a:t>
            </a:r>
            <a:r>
              <a:rPr sz="2800" dirty="0"/>
              <a:t> </a:t>
            </a:r>
            <a:r>
              <a:rPr sz="2800" dirty="0" err="1"/>
              <a:t>забезпечення</a:t>
            </a:r>
            <a:endParaRPr sz="2800" dirty="0"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743" y="1489375"/>
            <a:ext cx="4522424" cy="2743200"/>
          </a:xfrm>
          <a:prstGeom prst="rect">
            <a:avLst/>
          </a:prstGeom>
        </p:spPr>
      </p:pic>
      <p:pic>
        <p:nvPicPr>
          <p:cNvPr id="6" name="Google Shape;73;p14">
            <a:extLst>
              <a:ext uri="{FF2B5EF4-FFF2-40B4-BE49-F238E27FC236}">
                <a16:creationId xmlns:a16="http://schemas.microsoft.com/office/drawing/2014/main" id="{E86142ED-5F4C-2FAB-E11D-12BA412217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79;p15">
            <a:extLst>
              <a:ext uri="{FF2B5EF4-FFF2-40B4-BE49-F238E27FC236}">
                <a16:creationId xmlns:a16="http://schemas.microsoft.com/office/drawing/2014/main" id="{37434E58-09F6-C6B2-B399-98294AC54E41}"/>
              </a:ext>
            </a:extLst>
          </p:cNvPr>
          <p:cNvSpPr txBox="1">
            <a:spLocks/>
          </p:cNvSpPr>
          <p:nvPr/>
        </p:nvSpPr>
        <p:spPr>
          <a:xfrm>
            <a:off x="277325" y="1183975"/>
            <a:ext cx="42603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uk-UA" dirty="0">
                <a:highlight>
                  <a:srgbClr val="FFFFFF"/>
                </a:highlight>
              </a:rPr>
              <a:t>Клієнтська частина складається з окремих модулів, кожен з яких відповідає за свою частину функціональності. 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uk-UA" dirty="0">
                <a:highlight>
                  <a:srgbClr val="FFFFFF"/>
                </a:highlight>
              </a:rPr>
              <a:t>Модулі автентифікації, користувачів, оголошень та календаря взаємодіють із відповідними сервісами </a:t>
            </a:r>
            <a:r>
              <a:rPr lang="en-US" dirty="0">
                <a:highlight>
                  <a:srgbClr val="FFFFFF"/>
                </a:highlight>
              </a:rPr>
              <a:t>Express API </a:t>
            </a:r>
            <a:r>
              <a:rPr lang="uk-UA" dirty="0">
                <a:highlight>
                  <a:srgbClr val="FFFFFF"/>
                </a:highlight>
              </a:rPr>
              <a:t>для обробки даних. 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uk-UA" dirty="0">
                <a:highlight>
                  <a:srgbClr val="FFFFFF"/>
                </a:highlight>
              </a:rPr>
              <a:t>Усі модулі інтегруються через ядро, яке забезпечує керування станом, маршрутизацію та обробку запитів.</a:t>
            </a:r>
          </a:p>
          <a:p>
            <a:pPr>
              <a:spcBef>
                <a:spcPts val="1500"/>
              </a:spcBef>
              <a:spcAft>
                <a:spcPts val="1200"/>
              </a:spcAft>
            </a:pP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8238B8-1B47-55DE-4462-1F8DE8F7333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205922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Схема</a:t>
            </a:r>
            <a:r>
              <a:rPr sz="2800" dirty="0"/>
              <a:t> </a:t>
            </a:r>
            <a:r>
              <a:rPr sz="2800" dirty="0" err="1"/>
              <a:t>розгортання</a:t>
            </a:r>
            <a:r>
              <a:rPr sz="2800" dirty="0"/>
              <a:t> </a:t>
            </a:r>
            <a:r>
              <a:rPr sz="2800" dirty="0" err="1"/>
              <a:t>та</a:t>
            </a:r>
            <a:r>
              <a:rPr sz="2800" dirty="0"/>
              <a:t> </a:t>
            </a:r>
            <a:r>
              <a:rPr sz="2800" dirty="0" err="1"/>
              <a:t>бази</a:t>
            </a:r>
            <a:r>
              <a:rPr sz="2800" dirty="0"/>
              <a:t> </a:t>
            </a:r>
            <a:r>
              <a:rPr sz="2800" dirty="0" err="1"/>
              <a:t>даних</a:t>
            </a:r>
            <a:endParaRPr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96046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dirty="0" err="1"/>
              <a:t>Спроєктована</a:t>
            </a:r>
            <a:r>
              <a:rPr dirty="0"/>
              <a:t> </a:t>
            </a:r>
            <a:r>
              <a:rPr dirty="0" err="1"/>
              <a:t>схема</a:t>
            </a:r>
            <a:r>
              <a:rPr dirty="0"/>
              <a:t> </a:t>
            </a:r>
            <a:r>
              <a:rPr dirty="0" err="1"/>
              <a:t>розгортання</a:t>
            </a:r>
            <a:r>
              <a:rPr dirty="0"/>
              <a:t> </a:t>
            </a:r>
            <a:r>
              <a:rPr dirty="0" err="1"/>
              <a:t>системи</a:t>
            </a:r>
            <a:r>
              <a:rPr dirty="0"/>
              <a:t> (</a:t>
            </a:r>
            <a:r>
              <a:rPr dirty="0" err="1"/>
              <a:t>ліворуч</a:t>
            </a:r>
            <a:r>
              <a:rPr dirty="0"/>
              <a:t>) </a:t>
            </a:r>
            <a:r>
              <a:rPr dirty="0" err="1"/>
              <a:t>базується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клієнт-серверній</a:t>
            </a:r>
            <a:r>
              <a:rPr dirty="0"/>
              <a:t> </a:t>
            </a:r>
            <a:r>
              <a:rPr dirty="0" err="1"/>
              <a:t>архітектурі</a:t>
            </a:r>
            <a:r>
              <a:rPr dirty="0"/>
              <a:t>, </a:t>
            </a:r>
            <a:r>
              <a:rPr dirty="0" err="1"/>
              <a:t>де</a:t>
            </a:r>
            <a:r>
              <a:rPr dirty="0"/>
              <a:t> </a:t>
            </a:r>
            <a:r>
              <a:rPr dirty="0" err="1"/>
              <a:t>клієнтська</a:t>
            </a:r>
            <a:r>
              <a:rPr dirty="0"/>
              <a:t> React SPA </a:t>
            </a:r>
            <a:r>
              <a:rPr dirty="0" err="1"/>
              <a:t>взаємодіє</a:t>
            </a:r>
            <a:r>
              <a:rPr dirty="0"/>
              <a:t> з </a:t>
            </a:r>
            <a:r>
              <a:rPr dirty="0" err="1"/>
              <a:t>сервером</a:t>
            </a:r>
            <a:r>
              <a:rPr dirty="0"/>
              <a:t> Express API </a:t>
            </a:r>
            <a:r>
              <a:rPr dirty="0" err="1"/>
              <a:t>через</a:t>
            </a:r>
            <a:r>
              <a:rPr dirty="0"/>
              <a:t> REST </a:t>
            </a:r>
            <a:r>
              <a:rPr dirty="0" err="1"/>
              <a:t>протокол</a:t>
            </a:r>
            <a:r>
              <a:rPr dirty="0"/>
              <a:t>. </a:t>
            </a: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даних</a:t>
            </a:r>
            <a:r>
              <a:rPr dirty="0"/>
              <a:t> </a:t>
            </a:r>
            <a:r>
              <a:rPr dirty="0" err="1"/>
              <a:t>здійснюється</a:t>
            </a:r>
            <a:r>
              <a:rPr dirty="0"/>
              <a:t> у NoSQL СУБД MongoDB, </a:t>
            </a:r>
            <a:r>
              <a:rPr dirty="0" err="1"/>
              <a:t>структура</a:t>
            </a:r>
            <a:r>
              <a:rPr dirty="0"/>
              <a:t> </a:t>
            </a:r>
            <a:r>
              <a:rPr dirty="0" err="1"/>
              <a:t>якої</a:t>
            </a:r>
            <a:r>
              <a:rPr dirty="0"/>
              <a:t> </a:t>
            </a:r>
            <a:r>
              <a:rPr dirty="0" err="1"/>
              <a:t>представлена</a:t>
            </a:r>
            <a:r>
              <a:rPr dirty="0"/>
              <a:t> ER-</a:t>
            </a:r>
            <a:r>
              <a:rPr dirty="0" err="1"/>
              <a:t>моделлю</a:t>
            </a:r>
            <a:r>
              <a:rPr dirty="0"/>
              <a:t> (</a:t>
            </a:r>
            <a:r>
              <a:rPr dirty="0" err="1"/>
              <a:t>праворуч</a:t>
            </a:r>
            <a:r>
              <a:rPr dirty="0"/>
              <a:t>).</a:t>
            </a:r>
          </a:p>
        </p:txBody>
      </p:sp>
      <p:pic>
        <p:nvPicPr>
          <p:cNvPr id="4" name="Picture 3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3906"/>
            <a:ext cx="3931920" cy="2667227"/>
          </a:xfrm>
          <a:prstGeom prst="rect">
            <a:avLst/>
          </a:prstGeom>
        </p:spPr>
      </p:pic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623" y="1645920"/>
            <a:ext cx="1448432" cy="2743200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C369D7E1-5A09-5AFA-69C5-3C3A035F013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5CBC81-0B43-F740-A4A9-505FB4169A60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Сторінка</a:t>
            </a:r>
            <a:r>
              <a:rPr sz="2800" dirty="0"/>
              <a:t> </a:t>
            </a:r>
            <a:r>
              <a:rPr sz="2800" dirty="0" err="1"/>
              <a:t>входу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const </a:t>
            </a:r>
            <a:r>
              <a:rPr dirty="0" err="1"/>
              <a:t>submitLogin</a:t>
            </a:r>
            <a:r>
              <a:rPr dirty="0"/>
              <a:t> = async (e) =&gt;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setError</a:t>
            </a:r>
            <a:r>
              <a:rPr dirty="0"/>
              <a:t>("");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setLoading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axios.post</a:t>
            </a:r>
            <a:r>
              <a:rPr dirty="0"/>
              <a:t>("/</a:t>
            </a:r>
            <a:r>
              <a:rPr dirty="0" err="1"/>
              <a:t>api</a:t>
            </a:r>
            <a:r>
              <a:rPr dirty="0"/>
              <a:t>/auth/email-login",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email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});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goToVerify</a:t>
            </a:r>
            <a:r>
              <a:rPr dirty="0"/>
              <a:t>(email);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setError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</a:t>
            </a:r>
            <a:r>
              <a:rPr dirty="0" err="1"/>
              <a:t>err.response?.data?.message</a:t>
            </a:r>
            <a:r>
              <a:rPr dirty="0"/>
              <a:t> || "</a:t>
            </a:r>
            <a:r>
              <a:rPr dirty="0" err="1"/>
              <a:t>Помилка</a:t>
            </a:r>
            <a:r>
              <a:rPr dirty="0"/>
              <a:t>"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setLoading</a:t>
            </a:r>
            <a:r>
              <a:rPr dirty="0"/>
              <a:t>(false);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};</a:t>
            </a:r>
          </a:p>
        </p:txBody>
      </p:sp>
      <p:pic>
        <p:nvPicPr>
          <p:cNvPr id="5" name="Picture 4" descr="screenshot_auth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0160"/>
            <a:ext cx="4511565" cy="2819728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9C7BA5E3-943A-AB49-DB68-7FDCD24C50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7ECF79-AC9D-8AA1-C977-4057BAEA27B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274675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Реєстрація</a:t>
            </a:r>
            <a:r>
              <a:rPr sz="2800" dirty="0"/>
              <a:t> </a:t>
            </a:r>
            <a:r>
              <a:rPr sz="2800" dirty="0" err="1"/>
              <a:t>користувача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245785"/>
            <a:ext cx="38404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const </a:t>
            </a:r>
            <a:r>
              <a:rPr dirty="0" err="1"/>
              <a:t>submitRegister</a:t>
            </a:r>
            <a:r>
              <a:rPr dirty="0"/>
              <a:t> = async (e) =&gt;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setError</a:t>
            </a:r>
            <a:r>
              <a:rPr dirty="0"/>
              <a:t>("");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setLoading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axios.post</a:t>
            </a:r>
            <a:r>
              <a:rPr dirty="0"/>
              <a:t>("/</a:t>
            </a:r>
            <a:r>
              <a:rPr dirty="0" err="1"/>
              <a:t>api</a:t>
            </a:r>
            <a:r>
              <a:rPr dirty="0"/>
              <a:t>/auth/register",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name,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email,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role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});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goToVerify</a:t>
            </a:r>
            <a:r>
              <a:rPr dirty="0"/>
              <a:t>(email);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setError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</a:t>
            </a:r>
            <a:r>
              <a:rPr dirty="0" err="1"/>
              <a:t>err.response?.data?.message</a:t>
            </a:r>
            <a:r>
              <a:rPr dirty="0"/>
              <a:t> || "</a:t>
            </a:r>
            <a:r>
              <a:rPr dirty="0" err="1"/>
              <a:t>Помилка</a:t>
            </a:r>
            <a:r>
              <a:rPr dirty="0"/>
              <a:t>"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setLoading</a:t>
            </a:r>
            <a:r>
              <a:rPr dirty="0"/>
              <a:t>(false);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};</a:t>
            </a:r>
          </a:p>
        </p:txBody>
      </p:sp>
      <p:pic>
        <p:nvPicPr>
          <p:cNvPr id="5" name="Picture 4" descr="screenshot_auth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9187"/>
            <a:ext cx="4389120" cy="2743200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09C63FDA-FE60-7C5C-3866-F483D356E1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0C94F6-CAF1-72AB-C2BD-7C1166DAF680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Сторінка</a:t>
            </a:r>
            <a:r>
              <a:rPr sz="2800" dirty="0"/>
              <a:t> </a:t>
            </a:r>
            <a:r>
              <a:rPr sz="2800" dirty="0" err="1"/>
              <a:t>профілю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const </a:t>
            </a:r>
            <a:r>
              <a:rPr dirty="0" err="1"/>
              <a:t>handleSubmit</a:t>
            </a:r>
            <a:r>
              <a:rPr dirty="0"/>
              <a:t> = async (e) =&gt;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setSaving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const { data } = await </a:t>
            </a:r>
            <a:r>
              <a:rPr dirty="0" err="1"/>
              <a:t>axios.patch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"/</a:t>
            </a:r>
            <a:r>
              <a:rPr dirty="0" err="1"/>
              <a:t>api</a:t>
            </a:r>
            <a:r>
              <a:rPr dirty="0"/>
              <a:t>/users/me",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form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auth.updateUser</a:t>
            </a:r>
            <a:r>
              <a:rPr dirty="0"/>
              <a:t>({ name: data.name });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setSuccess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setTimeout</a:t>
            </a:r>
            <a:r>
              <a:rPr dirty="0"/>
              <a:t>(() =&gt; </a:t>
            </a:r>
            <a:r>
              <a:rPr dirty="0" err="1"/>
              <a:t>setSuccess</a:t>
            </a:r>
            <a:r>
              <a:rPr dirty="0"/>
              <a:t>(false), 3000);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console.error</a:t>
            </a:r>
            <a:r>
              <a:rPr dirty="0"/>
              <a:t>(err);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setSaving</a:t>
            </a:r>
            <a:r>
              <a:rPr dirty="0"/>
              <a:t>(false);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};</a:t>
            </a:r>
          </a:p>
        </p:txBody>
      </p:sp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7D4D8060-357E-9B85-A49B-FB6E3E17DB9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343E71C-A8F2-BACB-6CFF-5D7A01A6A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3876604" cy="28835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64D490-A0E1-ED5F-F0DE-A044877D40B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-124087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Додавання</a:t>
            </a:r>
            <a:r>
              <a:rPr sz="2800" dirty="0"/>
              <a:t> </a:t>
            </a:r>
            <a:r>
              <a:rPr sz="2800" dirty="0" err="1"/>
              <a:t>локації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07952" y="643118"/>
            <a:ext cx="3840480" cy="39728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const submit = async (e) =&gt;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</a:t>
            </a:r>
            <a:r>
              <a:rPr dirty="0" err="1"/>
              <a:t>setLoading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</a:t>
            </a:r>
            <a:r>
              <a:rPr dirty="0" err="1"/>
              <a:t>setError</a:t>
            </a:r>
            <a:r>
              <a:rPr dirty="0"/>
              <a:t>("");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const data = new </a:t>
            </a:r>
            <a:r>
              <a:rPr dirty="0" err="1"/>
              <a:t>FormData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("title", title);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("description", description);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("address", address);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</a:t>
            </a:r>
            <a:r>
              <a:rPr dirty="0" err="1"/>
              <a:t>price_per_hour</a:t>
            </a:r>
            <a:r>
              <a:rPr dirty="0"/>
              <a:t>", </a:t>
            </a:r>
            <a:r>
              <a:rPr dirty="0" err="1"/>
              <a:t>pricePerHour</a:t>
            </a:r>
            <a:r>
              <a:rPr dirty="0"/>
              <a:t>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</a:t>
            </a:r>
            <a:r>
              <a:rPr dirty="0" err="1"/>
              <a:t>max_guests</a:t>
            </a:r>
            <a:r>
              <a:rPr dirty="0"/>
              <a:t>", </a:t>
            </a:r>
            <a:r>
              <a:rPr dirty="0" err="1"/>
              <a:t>maxGuests</a:t>
            </a:r>
            <a:r>
              <a:rPr dirty="0"/>
              <a:t>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("category", category);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("availability",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</a:t>
            </a:r>
            <a:r>
              <a:rPr dirty="0" err="1"/>
              <a:t>JSON.stringify</a:t>
            </a:r>
            <a:r>
              <a:rPr dirty="0"/>
              <a:t>(availability)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photos.forEach</a:t>
            </a:r>
            <a:r>
              <a:rPr dirty="0"/>
              <a:t>((p) =&gt;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</a:t>
            </a:r>
            <a:r>
              <a:rPr dirty="0" err="1"/>
              <a:t>data.append</a:t>
            </a:r>
            <a:r>
              <a:rPr dirty="0"/>
              <a:t>("photos", p)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axios.post</a:t>
            </a:r>
            <a:r>
              <a:rPr dirty="0"/>
              <a:t>("/</a:t>
            </a:r>
            <a:r>
              <a:rPr dirty="0" err="1"/>
              <a:t>api</a:t>
            </a:r>
            <a:r>
              <a:rPr dirty="0"/>
              <a:t>/listings", data,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headers: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  "Content-Type": "multipart/form-data"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},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});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navigate("/my-listings");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setError</a:t>
            </a:r>
            <a:r>
              <a:rPr dirty="0"/>
              <a:t>(</a:t>
            </a:r>
            <a:r>
              <a:rPr dirty="0" err="1"/>
              <a:t>err.response?.data?.message</a:t>
            </a:r>
            <a:r>
              <a:rPr dirty="0"/>
              <a:t> || "..");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setLoading</a:t>
            </a:r>
            <a:r>
              <a:rPr dirty="0"/>
              <a:t>(false);</a:t>
            </a:r>
            <a:r>
              <a:rPr lang="uk-UA" dirty="0"/>
              <a:t> </a:t>
            </a:r>
            <a:r>
              <a:rPr lang="ru-UA" dirty="0"/>
              <a:t>}</a:t>
            </a:r>
            <a:r>
              <a:rPr lang="uk-UA" dirty="0"/>
              <a:t> </a:t>
            </a:r>
            <a:r>
              <a:rPr lang="ru-UA" dirty="0"/>
              <a:t>};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</a:t>
            </a:r>
          </a:p>
        </p:txBody>
      </p:sp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E03D0120-0981-23B1-81E1-C9144C9BFF9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D32F2-F1D6-DE80-3756-2AEC3D550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459" y="1044794"/>
            <a:ext cx="3841086" cy="30539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348261-8FFE-144F-72BD-02F60868D351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075" y="185299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Керування</a:t>
            </a:r>
            <a:r>
              <a:rPr sz="2800" dirty="0"/>
              <a:t> </a:t>
            </a:r>
            <a:r>
              <a:rPr sz="2800" dirty="0" err="1"/>
              <a:t>оголошеннями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388449" y="1005154"/>
            <a:ext cx="3840480" cy="3249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const </a:t>
            </a:r>
            <a:r>
              <a:rPr dirty="0" err="1"/>
              <a:t>toggleVisibility</a:t>
            </a:r>
            <a:r>
              <a:rPr dirty="0"/>
              <a:t> = async (listing) =&gt;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axios.put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`/</a:t>
            </a:r>
            <a:r>
              <a:rPr dirty="0" err="1"/>
              <a:t>api</a:t>
            </a:r>
            <a:r>
              <a:rPr dirty="0"/>
              <a:t>/listings/${</a:t>
            </a:r>
            <a:r>
              <a:rPr dirty="0" err="1"/>
              <a:t>listing._id</a:t>
            </a:r>
            <a:r>
              <a:rPr dirty="0"/>
              <a:t>}`,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{ </a:t>
            </a:r>
            <a:r>
              <a:rPr dirty="0" err="1"/>
              <a:t>isListed</a:t>
            </a:r>
            <a:r>
              <a:rPr dirty="0"/>
              <a:t>: !</a:t>
            </a:r>
            <a:r>
              <a:rPr dirty="0" err="1"/>
              <a:t>listing.isListed</a:t>
            </a:r>
            <a:r>
              <a:rPr dirty="0"/>
              <a:t> 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</a:t>
            </a:r>
            <a:r>
              <a:rPr dirty="0" err="1"/>
              <a:t>fetchListings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alert(</a:t>
            </a:r>
            <a:r>
              <a:rPr dirty="0" err="1"/>
              <a:t>err.response?.data?.message</a:t>
            </a:r>
            <a:r>
              <a:rPr dirty="0"/>
              <a:t> || "</a:t>
            </a:r>
            <a:r>
              <a:rPr dirty="0" err="1"/>
              <a:t>Помилка</a:t>
            </a:r>
            <a:r>
              <a:rPr dirty="0"/>
              <a:t>");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};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endParaRPr dirty="0"/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// </a:t>
            </a:r>
            <a:r>
              <a:rPr dirty="0" err="1"/>
              <a:t>Рендеринг</a:t>
            </a:r>
            <a:r>
              <a:rPr dirty="0"/>
              <a:t> </a:t>
            </a:r>
            <a:r>
              <a:rPr dirty="0" err="1"/>
              <a:t>списку</a:t>
            </a:r>
            <a:r>
              <a:rPr dirty="0"/>
              <a:t> у JSX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{</a:t>
            </a:r>
            <a:r>
              <a:rPr dirty="0" err="1"/>
              <a:t>filtered.map</a:t>
            </a:r>
            <a:r>
              <a:rPr dirty="0"/>
              <a:t>((listing) =&gt; 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&lt;div key={</a:t>
            </a:r>
            <a:r>
              <a:rPr dirty="0" err="1"/>
              <a:t>listing._id</a:t>
            </a:r>
            <a:r>
              <a:rPr dirty="0"/>
              <a:t>} </a:t>
            </a:r>
            <a:r>
              <a:rPr dirty="0" err="1"/>
              <a:t>className</a:t>
            </a:r>
            <a:r>
              <a:rPr dirty="0"/>
              <a:t>="p-4 flex gap-4"&gt;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</a:t>
            </a:r>
            <a:r>
              <a:rPr dirty="0" err="1"/>
              <a:t>img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={</a:t>
            </a:r>
            <a:r>
              <a:rPr dirty="0" err="1"/>
              <a:t>getCoverPhoto</a:t>
            </a:r>
            <a:r>
              <a:rPr dirty="0"/>
              <a:t>(listing)}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   </a:t>
            </a:r>
            <a:r>
              <a:rPr dirty="0" err="1"/>
              <a:t>className</a:t>
            </a:r>
            <a:r>
              <a:rPr dirty="0"/>
              <a:t>="w-44 h-28 object-cover" /&gt;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&lt;div </a:t>
            </a:r>
            <a:r>
              <a:rPr dirty="0" err="1"/>
              <a:t>className</a:t>
            </a:r>
            <a:r>
              <a:rPr dirty="0"/>
              <a:t>="flex-1"&gt;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</a:t>
            </a:r>
            <a:r>
              <a:rPr dirty="0" err="1"/>
              <a:t>StatusPill</a:t>
            </a:r>
            <a:r>
              <a:rPr dirty="0"/>
              <a:t> listing={listing} /&gt;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&lt;Link to={`/listing/${</a:t>
            </a:r>
            <a:r>
              <a:rPr dirty="0" err="1"/>
              <a:t>listing._id</a:t>
            </a:r>
            <a:r>
              <a:rPr dirty="0"/>
              <a:t>}`}&gt;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  {</a:t>
            </a:r>
            <a:r>
              <a:rPr dirty="0" err="1"/>
              <a:t>listing.title</a:t>
            </a:r>
            <a:r>
              <a:rPr dirty="0"/>
              <a:t>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&lt;/Link&gt;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&lt;/div&gt;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&lt;/div&gt;</a:t>
            </a:r>
            <a:r>
              <a:rPr lang="uk-UA" dirty="0"/>
              <a:t> </a:t>
            </a:r>
            <a:r>
              <a:rPr lang="ru-UA" dirty="0"/>
              <a:t>))}</a:t>
            </a:r>
          </a:p>
        </p:txBody>
      </p:sp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B6F382E3-2EF2-F782-459D-37258FE77D2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BF2CC3-FE27-CEAB-6E79-942182D42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550" y="1078718"/>
            <a:ext cx="4447560" cy="32417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186BF0-F52D-28FE-02B3-47A85504F16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075" y="61546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Управління</a:t>
            </a:r>
            <a:r>
              <a:rPr sz="2800" dirty="0"/>
              <a:t> </a:t>
            </a:r>
            <a:r>
              <a:rPr sz="2800" dirty="0" err="1"/>
              <a:t>користувачами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15950" y="895149"/>
            <a:ext cx="3840480" cy="33855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const </a:t>
            </a:r>
            <a:r>
              <a:rPr dirty="0" err="1"/>
              <a:t>toggleBlock</a:t>
            </a:r>
            <a:r>
              <a:rPr dirty="0"/>
              <a:t> = async (</a:t>
            </a:r>
            <a:r>
              <a:rPr dirty="0" err="1"/>
              <a:t>userId</a:t>
            </a:r>
            <a:r>
              <a:rPr dirty="0"/>
              <a:t>) =&gt;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axios.patch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`/</a:t>
            </a:r>
            <a:r>
              <a:rPr dirty="0" err="1"/>
              <a:t>api</a:t>
            </a:r>
            <a:r>
              <a:rPr dirty="0"/>
              <a:t>/admin/users/${</a:t>
            </a:r>
            <a:r>
              <a:rPr dirty="0" err="1"/>
              <a:t>userId</a:t>
            </a:r>
            <a:r>
              <a:rPr dirty="0"/>
              <a:t>}/block`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</a:t>
            </a:r>
            <a:r>
              <a:rPr dirty="0" err="1"/>
              <a:t>fetchUsers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</a:t>
            </a:r>
            <a:r>
              <a:rPr dirty="0" err="1"/>
              <a:t>console.error</a:t>
            </a:r>
            <a:r>
              <a:rPr dirty="0"/>
              <a:t>(err);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};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endParaRPr dirty="0"/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{</a:t>
            </a:r>
            <a:r>
              <a:rPr dirty="0" err="1"/>
              <a:t>users.map</a:t>
            </a:r>
            <a:r>
              <a:rPr dirty="0"/>
              <a:t>((user) =&gt; 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&lt;tr key={</a:t>
            </a:r>
            <a:r>
              <a:rPr dirty="0" err="1"/>
              <a:t>user._id</a:t>
            </a:r>
            <a:r>
              <a:rPr dirty="0"/>
              <a:t>}&gt;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&lt;td&gt;{user.name}&lt;/td&gt;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&lt;td&gt;{</a:t>
            </a:r>
            <a:r>
              <a:rPr dirty="0" err="1"/>
              <a:t>user.email</a:t>
            </a:r>
            <a:r>
              <a:rPr dirty="0"/>
              <a:t>}&lt;/td&gt;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&lt;td&gt;{</a:t>
            </a:r>
            <a:r>
              <a:rPr dirty="0" err="1"/>
              <a:t>user.role</a:t>
            </a:r>
            <a:r>
              <a:rPr dirty="0"/>
              <a:t>}&lt;/td&gt;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{</a:t>
            </a:r>
            <a:r>
              <a:rPr dirty="0" err="1"/>
              <a:t>user.isBlocked</a:t>
            </a:r>
            <a:r>
              <a:rPr dirty="0"/>
              <a:t> ? "</a:t>
            </a:r>
            <a:r>
              <a:rPr dirty="0" err="1"/>
              <a:t>Блоковано</a:t>
            </a:r>
            <a:r>
              <a:rPr dirty="0"/>
              <a:t>" : "</a:t>
            </a:r>
            <a:r>
              <a:rPr dirty="0" err="1"/>
              <a:t>Активний</a:t>
            </a:r>
            <a:r>
              <a:rPr dirty="0"/>
              <a:t>"}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&lt;button </a:t>
            </a:r>
            <a:r>
              <a:rPr dirty="0" err="1"/>
              <a:t>onClick</a:t>
            </a:r>
            <a:r>
              <a:rPr dirty="0"/>
              <a:t>={() =&gt; </a:t>
            </a:r>
            <a:r>
              <a:rPr dirty="0" err="1"/>
              <a:t>toggleBlock</a:t>
            </a:r>
            <a:r>
              <a:rPr dirty="0"/>
              <a:t>(</a:t>
            </a:r>
            <a:r>
              <a:rPr dirty="0" err="1"/>
              <a:t>user._id</a:t>
            </a:r>
            <a:r>
              <a:rPr dirty="0"/>
              <a:t>)}&gt;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  {</a:t>
            </a:r>
            <a:r>
              <a:rPr dirty="0" err="1"/>
              <a:t>user.isBlocked</a:t>
            </a:r>
            <a:r>
              <a:rPr dirty="0"/>
              <a:t> ? "</a:t>
            </a:r>
            <a:r>
              <a:rPr dirty="0" err="1"/>
              <a:t>Розблок</a:t>
            </a:r>
            <a:r>
              <a:rPr dirty="0"/>
              <a:t>." : "</a:t>
            </a:r>
            <a:r>
              <a:rPr dirty="0" err="1"/>
              <a:t>Блок</a:t>
            </a:r>
            <a:r>
              <a:rPr dirty="0"/>
              <a:t>."}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&lt;/button&gt;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&lt;/tr&gt;</a:t>
            </a:r>
            <a:r>
              <a:rPr lang="uk-UA" dirty="0"/>
              <a:t> </a:t>
            </a:r>
            <a:r>
              <a:rPr lang="ru-UA" dirty="0"/>
              <a:t>))}</a:t>
            </a:r>
          </a:p>
        </p:txBody>
      </p:sp>
      <p:pic>
        <p:nvPicPr>
          <p:cNvPr id="5" name="Picture 4" descr="screenshot_admin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27781"/>
            <a:ext cx="4430370" cy="2768981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6ECF9777-11AC-6B06-332C-5383D5E4BE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0AFE1C-3E83-0353-315A-8AF1B553A3A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Тестування</a:t>
            </a:r>
            <a:r>
              <a:rPr sz="2800" dirty="0"/>
              <a:t> </a:t>
            </a:r>
            <a:r>
              <a:rPr sz="2800" dirty="0" err="1"/>
              <a:t>розробленого</a:t>
            </a:r>
            <a:r>
              <a:rPr sz="2800" dirty="0"/>
              <a:t> </a:t>
            </a:r>
            <a:r>
              <a:rPr sz="2800" dirty="0" err="1"/>
              <a:t>модуля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Методологія</a:t>
            </a:r>
            <a:r>
              <a:rPr dirty="0"/>
              <a:t>: </a:t>
            </a:r>
            <a:r>
              <a:rPr dirty="0" err="1"/>
              <a:t>Інтеграційне</a:t>
            </a:r>
            <a:r>
              <a:rPr dirty="0"/>
              <a:t> </a:t>
            </a:r>
            <a:r>
              <a:rPr dirty="0" err="1"/>
              <a:t>тестування</a:t>
            </a:r>
            <a:r>
              <a:rPr dirty="0"/>
              <a:t> API (</a:t>
            </a:r>
            <a:r>
              <a:rPr dirty="0" err="1"/>
              <a:t>маршрути</a:t>
            </a:r>
            <a:r>
              <a:rPr dirty="0"/>
              <a:t> </a:t>
            </a:r>
            <a:r>
              <a:rPr dirty="0" err="1"/>
              <a:t>авторизації</a:t>
            </a:r>
            <a:r>
              <a:rPr dirty="0"/>
              <a:t>, </a:t>
            </a:r>
            <a:r>
              <a:rPr dirty="0" err="1"/>
              <a:t>профілів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)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ручне</a:t>
            </a:r>
            <a:r>
              <a:rPr dirty="0"/>
              <a:t> </a:t>
            </a:r>
            <a:r>
              <a:rPr dirty="0" err="1"/>
              <a:t>функціональне</a:t>
            </a:r>
            <a:r>
              <a:rPr dirty="0"/>
              <a:t> </a:t>
            </a:r>
            <a:r>
              <a:rPr dirty="0" err="1"/>
              <a:t>тестування</a:t>
            </a:r>
            <a:r>
              <a:rPr dirty="0"/>
              <a:t> </a:t>
            </a:r>
            <a:r>
              <a:rPr dirty="0" err="1"/>
              <a:t>інтерфейсу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Результати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 </a:t>
            </a:r>
            <a:r>
              <a:rPr dirty="0" err="1"/>
              <a:t>реєстрації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Блокування</a:t>
            </a:r>
            <a:r>
              <a:rPr dirty="0"/>
              <a:t> </a:t>
            </a:r>
            <a:r>
              <a:rPr dirty="0" err="1"/>
              <a:t>повторної</a:t>
            </a:r>
            <a:r>
              <a:rPr dirty="0"/>
              <a:t> </a:t>
            </a:r>
            <a:r>
              <a:rPr dirty="0" err="1"/>
              <a:t>реєстрації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одну</a:t>
            </a:r>
            <a:r>
              <a:rPr dirty="0"/>
              <a:t> </a:t>
            </a:r>
            <a:r>
              <a:rPr dirty="0" err="1"/>
              <a:t>пошту</a:t>
            </a:r>
            <a:r>
              <a:rPr dirty="0"/>
              <a:t> (</a:t>
            </a:r>
            <a:r>
              <a:rPr dirty="0" err="1"/>
              <a:t>помилка</a:t>
            </a:r>
            <a:r>
              <a:rPr dirty="0"/>
              <a:t> 400 Bad Request)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Коректна</a:t>
            </a:r>
            <a:r>
              <a:rPr dirty="0"/>
              <a:t> </a:t>
            </a:r>
            <a:r>
              <a:rPr dirty="0" err="1"/>
              <a:t>обробка</a:t>
            </a:r>
            <a:r>
              <a:rPr dirty="0"/>
              <a:t> </a:t>
            </a:r>
            <a:r>
              <a:rPr dirty="0" err="1"/>
              <a:t>прострочених</a:t>
            </a:r>
            <a:r>
              <a:rPr dirty="0"/>
              <a:t> JWT (</a:t>
            </a:r>
            <a:r>
              <a:rPr dirty="0" err="1"/>
              <a:t>помилка</a:t>
            </a:r>
            <a:r>
              <a:rPr dirty="0"/>
              <a:t> 401 Unauthorized)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Успішна</a:t>
            </a:r>
            <a:r>
              <a:rPr dirty="0"/>
              <a:t> </a:t>
            </a:r>
            <a:r>
              <a:rPr dirty="0" err="1"/>
              <a:t>верифікація</a:t>
            </a:r>
            <a:r>
              <a:rPr dirty="0"/>
              <a:t> 6-значних </a:t>
            </a:r>
            <a:r>
              <a:rPr dirty="0" err="1"/>
              <a:t>кодів</a:t>
            </a:r>
            <a:r>
              <a:rPr dirty="0"/>
              <a:t> у </a:t>
            </a:r>
            <a:r>
              <a:rPr dirty="0" err="1"/>
              <a:t>межах</a:t>
            </a:r>
            <a:r>
              <a:rPr dirty="0"/>
              <a:t> 60-хвилинного </a:t>
            </a:r>
            <a:r>
              <a:rPr dirty="0" err="1"/>
              <a:t>вікна</a:t>
            </a:r>
            <a:endParaRPr dirty="0"/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Результати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/>
              <a:t>Валідація </a:t>
            </a:r>
            <a:r>
              <a:rPr dirty="0" err="1"/>
              <a:t>лімітів</a:t>
            </a:r>
            <a:r>
              <a:rPr dirty="0"/>
              <a:t> Multer (</a:t>
            </a:r>
            <a:r>
              <a:rPr dirty="0" err="1"/>
              <a:t>файли</a:t>
            </a:r>
            <a:r>
              <a:rPr dirty="0"/>
              <a:t> </a:t>
            </a:r>
            <a:r>
              <a:rPr dirty="0" err="1"/>
              <a:t>більше</a:t>
            </a:r>
            <a:r>
              <a:rPr dirty="0"/>
              <a:t> 5 МБ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непідтримувані</a:t>
            </a:r>
            <a:r>
              <a:rPr dirty="0"/>
              <a:t> </a:t>
            </a:r>
            <a:r>
              <a:rPr dirty="0" err="1"/>
              <a:t>формати</a:t>
            </a:r>
            <a:r>
              <a:rPr dirty="0"/>
              <a:t> </a:t>
            </a:r>
            <a:r>
              <a:rPr dirty="0" err="1"/>
              <a:t>відхиляються</a:t>
            </a:r>
            <a:r>
              <a:rPr dirty="0"/>
              <a:t>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Перевірка</a:t>
            </a:r>
            <a:r>
              <a:rPr dirty="0"/>
              <a:t> </a:t>
            </a:r>
            <a:r>
              <a:rPr dirty="0" err="1"/>
              <a:t>геокодування</a:t>
            </a:r>
            <a:r>
              <a:rPr dirty="0"/>
              <a:t> </a:t>
            </a:r>
            <a:r>
              <a:rPr dirty="0" err="1"/>
              <a:t>Nominatim</a:t>
            </a:r>
            <a:r>
              <a:rPr dirty="0"/>
              <a:t> (</a:t>
            </a:r>
            <a:r>
              <a:rPr dirty="0" err="1"/>
              <a:t>автовизначення</a:t>
            </a:r>
            <a:r>
              <a:rPr dirty="0"/>
              <a:t> </a:t>
            </a:r>
            <a:r>
              <a:rPr dirty="0" err="1"/>
              <a:t>координат</a:t>
            </a:r>
            <a:r>
              <a:rPr dirty="0"/>
              <a:t> </a:t>
            </a:r>
            <a:r>
              <a:rPr dirty="0" err="1"/>
              <a:t>lat</a:t>
            </a:r>
            <a:r>
              <a:rPr dirty="0"/>
              <a:t>/</a:t>
            </a:r>
            <a:r>
              <a:rPr dirty="0" err="1"/>
              <a:t>lng</a:t>
            </a:r>
            <a:r>
              <a:rPr dirty="0"/>
              <a:t>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редагування</a:t>
            </a:r>
            <a:r>
              <a:rPr dirty="0"/>
              <a:t> </a:t>
            </a:r>
            <a:r>
              <a:rPr dirty="0" err="1"/>
              <a:t>тижневого</a:t>
            </a:r>
            <a:r>
              <a:rPr dirty="0"/>
              <a:t> </a:t>
            </a:r>
            <a:r>
              <a:rPr dirty="0" err="1"/>
              <a:t>календаря</a:t>
            </a:r>
            <a:r>
              <a:rPr dirty="0"/>
              <a:t> </a:t>
            </a:r>
            <a:r>
              <a:rPr dirty="0" err="1"/>
              <a:t>доступності</a:t>
            </a:r>
            <a:endParaRPr dirty="0"/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B8A4EDEB-680F-710F-8586-1FAD0223721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5E58F5-EAA9-B0D8-9832-06B254557C36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Аналіз</a:t>
            </a:r>
            <a:r>
              <a:rPr sz="2800" dirty="0"/>
              <a:t> </a:t>
            </a:r>
            <a:r>
              <a:rPr sz="2800" dirty="0" err="1"/>
              <a:t>отриманих</a:t>
            </a:r>
            <a:r>
              <a:rPr sz="2800" dirty="0"/>
              <a:t> </a:t>
            </a:r>
            <a:r>
              <a:rPr sz="2800" dirty="0" err="1"/>
              <a:t>результатів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Зіставлення</a:t>
            </a:r>
            <a:r>
              <a:rPr dirty="0"/>
              <a:t> з </a:t>
            </a:r>
            <a:r>
              <a:rPr dirty="0" err="1"/>
              <a:t>вимогами</a:t>
            </a:r>
            <a:r>
              <a:rPr dirty="0"/>
              <a:t>: </a:t>
            </a:r>
            <a:r>
              <a:rPr dirty="0" err="1"/>
              <a:t>Успішно</a:t>
            </a:r>
            <a:r>
              <a:rPr dirty="0"/>
              <a:t> </a:t>
            </a:r>
            <a:r>
              <a:rPr dirty="0" err="1"/>
              <a:t>реалізовано</a:t>
            </a:r>
            <a:r>
              <a:rPr dirty="0"/>
              <a:t> </a:t>
            </a:r>
            <a:r>
              <a:rPr dirty="0" err="1"/>
              <a:t>всі</a:t>
            </a:r>
            <a:r>
              <a:rPr dirty="0"/>
              <a:t> 5 </a:t>
            </a:r>
            <a:r>
              <a:rPr dirty="0" err="1"/>
              <a:t>підсистем</a:t>
            </a:r>
            <a:r>
              <a:rPr dirty="0"/>
              <a:t> </a:t>
            </a:r>
            <a:r>
              <a:rPr dirty="0" err="1"/>
              <a:t>модуля</a:t>
            </a:r>
            <a:r>
              <a:rPr dirty="0"/>
              <a:t>. </a:t>
            </a:r>
            <a:r>
              <a:rPr dirty="0" err="1"/>
              <a:t>Модуль</a:t>
            </a:r>
            <a:r>
              <a:rPr dirty="0"/>
              <a:t> </a:t>
            </a:r>
            <a:r>
              <a:rPr dirty="0" err="1"/>
              <a:t>повністю</a:t>
            </a:r>
            <a:r>
              <a:rPr dirty="0"/>
              <a:t> </a:t>
            </a:r>
            <a:r>
              <a:rPr dirty="0" err="1"/>
              <a:t>інтегровано</a:t>
            </a:r>
            <a:r>
              <a:rPr dirty="0"/>
              <a:t> з </a:t>
            </a:r>
            <a:r>
              <a:rPr dirty="0" err="1"/>
              <a:t>підсистемою</a:t>
            </a:r>
            <a:r>
              <a:rPr dirty="0"/>
              <a:t> </a:t>
            </a:r>
            <a:r>
              <a:rPr dirty="0" err="1"/>
              <a:t>пошуку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бронювання</a:t>
            </a:r>
            <a:r>
              <a:rPr dirty="0"/>
              <a:t> </a:t>
            </a:r>
            <a:r>
              <a:rPr dirty="0" err="1"/>
              <a:t>партнера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Швидкодія</a:t>
            </a:r>
            <a:r>
              <a:rPr dirty="0"/>
              <a:t>: </a:t>
            </a:r>
            <a:r>
              <a:rPr dirty="0" err="1"/>
              <a:t>Індексований</a:t>
            </a:r>
            <a:r>
              <a:rPr dirty="0"/>
              <a:t> </a:t>
            </a:r>
            <a:r>
              <a:rPr dirty="0" err="1"/>
              <a:t>пошук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email, </a:t>
            </a:r>
            <a:r>
              <a:rPr dirty="0" err="1"/>
              <a:t>host_id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географічними</a:t>
            </a:r>
            <a:r>
              <a:rPr dirty="0"/>
              <a:t> </a:t>
            </a:r>
            <a:r>
              <a:rPr dirty="0" err="1"/>
              <a:t>координатами</a:t>
            </a:r>
            <a:r>
              <a:rPr dirty="0"/>
              <a:t> </a:t>
            </a:r>
            <a:r>
              <a:rPr dirty="0" err="1"/>
              <a:t>забезпечує</a:t>
            </a:r>
            <a:r>
              <a:rPr dirty="0"/>
              <a:t> </a:t>
            </a:r>
            <a:r>
              <a:rPr dirty="0" err="1"/>
              <a:t>час</a:t>
            </a:r>
            <a:r>
              <a:rPr dirty="0"/>
              <a:t> </a:t>
            </a:r>
            <a:r>
              <a:rPr dirty="0" err="1"/>
              <a:t>відповіді</a:t>
            </a:r>
            <a:r>
              <a:rPr dirty="0"/>
              <a:t> </a:t>
            </a:r>
            <a:r>
              <a:rPr dirty="0" err="1"/>
              <a:t>сервера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150 </a:t>
            </a:r>
            <a:r>
              <a:rPr dirty="0" err="1"/>
              <a:t>мс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Безпека</a:t>
            </a:r>
            <a:r>
              <a:rPr dirty="0"/>
              <a:t>: </a:t>
            </a:r>
            <a:r>
              <a:rPr dirty="0" err="1"/>
              <a:t>Безпарольний</a:t>
            </a:r>
            <a:r>
              <a:rPr dirty="0"/>
              <a:t> </a:t>
            </a:r>
            <a:r>
              <a:rPr dirty="0" err="1"/>
              <a:t>вхід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JWT </a:t>
            </a:r>
            <a:r>
              <a:rPr dirty="0" err="1"/>
              <a:t>надійно</a:t>
            </a:r>
            <a:r>
              <a:rPr dirty="0"/>
              <a:t> </a:t>
            </a:r>
            <a:r>
              <a:rPr dirty="0" err="1"/>
              <a:t>захищають</a:t>
            </a:r>
            <a:r>
              <a:rPr dirty="0"/>
              <a:t> </a:t>
            </a:r>
            <a:r>
              <a:rPr dirty="0" err="1"/>
              <a:t>сесії</a:t>
            </a:r>
            <a:r>
              <a:rPr dirty="0"/>
              <a:t>; </a:t>
            </a:r>
            <a:r>
              <a:rPr dirty="0" err="1"/>
              <a:t>заблоковані</a:t>
            </a:r>
            <a:r>
              <a:rPr dirty="0"/>
              <a:t> </a:t>
            </a:r>
            <a:r>
              <a:rPr dirty="0" err="1"/>
              <a:t>користувачі</a:t>
            </a:r>
            <a:r>
              <a:rPr dirty="0"/>
              <a:t> (</a:t>
            </a:r>
            <a:r>
              <a:rPr dirty="0" err="1"/>
              <a:t>isBlocked</a:t>
            </a:r>
            <a:r>
              <a:rPr dirty="0"/>
              <a:t> = true) </a:t>
            </a:r>
            <a:r>
              <a:rPr dirty="0" err="1"/>
              <a:t>моментально</a:t>
            </a:r>
            <a:r>
              <a:rPr dirty="0"/>
              <a:t> </a:t>
            </a:r>
            <a:r>
              <a:rPr dirty="0" err="1"/>
              <a:t>втрачають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Обмеження</a:t>
            </a:r>
            <a:r>
              <a:rPr dirty="0"/>
              <a:t>: </a:t>
            </a: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фото</a:t>
            </a:r>
            <a:r>
              <a:rPr dirty="0"/>
              <a:t> </a:t>
            </a:r>
            <a:r>
              <a:rPr dirty="0" err="1"/>
              <a:t>виконується</a:t>
            </a:r>
            <a:r>
              <a:rPr dirty="0"/>
              <a:t> </a:t>
            </a:r>
            <a:r>
              <a:rPr dirty="0" err="1"/>
              <a:t>локально</a:t>
            </a:r>
            <a:r>
              <a:rPr dirty="0"/>
              <a:t> (у </a:t>
            </a:r>
            <a:r>
              <a:rPr dirty="0" err="1"/>
              <a:t>майбутньому</a:t>
            </a:r>
            <a:r>
              <a:rPr dirty="0"/>
              <a:t> — </a:t>
            </a:r>
            <a:r>
              <a:rPr dirty="0" err="1"/>
              <a:t>міграція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AWS S3); </a:t>
            </a:r>
            <a:r>
              <a:rPr dirty="0" err="1"/>
              <a:t>календар</a:t>
            </a:r>
            <a:r>
              <a:rPr dirty="0"/>
              <a:t> </a:t>
            </a:r>
            <a:r>
              <a:rPr dirty="0" err="1"/>
              <a:t>обмежений</a:t>
            </a:r>
            <a:r>
              <a:rPr dirty="0"/>
              <a:t> </a:t>
            </a:r>
            <a:r>
              <a:rPr dirty="0" err="1"/>
              <a:t>фіксованим</a:t>
            </a:r>
            <a:r>
              <a:rPr dirty="0"/>
              <a:t> </a:t>
            </a:r>
            <a:r>
              <a:rPr dirty="0" err="1"/>
              <a:t>тижневим</a:t>
            </a:r>
            <a:r>
              <a:rPr dirty="0"/>
              <a:t> </a:t>
            </a:r>
            <a:r>
              <a:rPr dirty="0" err="1"/>
              <a:t>графіком</a:t>
            </a:r>
            <a:r>
              <a:rPr dirty="0"/>
              <a:t> (</a:t>
            </a:r>
            <a:r>
              <a:rPr dirty="0" err="1"/>
              <a:t>потрібна</a:t>
            </a:r>
            <a:r>
              <a:rPr dirty="0"/>
              <a:t> </a:t>
            </a:r>
            <a:r>
              <a:rPr dirty="0" err="1"/>
              <a:t>підтримка</a:t>
            </a:r>
            <a:r>
              <a:rPr dirty="0"/>
              <a:t> </a:t>
            </a:r>
            <a:r>
              <a:rPr dirty="0" err="1"/>
              <a:t>конкретних</a:t>
            </a:r>
            <a:r>
              <a:rPr dirty="0"/>
              <a:t> </a:t>
            </a:r>
            <a:r>
              <a:rPr dirty="0" err="1"/>
              <a:t>дат</a:t>
            </a:r>
            <a:r>
              <a:rPr dirty="0"/>
              <a:t>).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38304A15-E3AB-646B-E6E7-03C1B10CBDA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DFAC53-64BB-457F-4A6E-28A2FC870A5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Впровадження</a:t>
            </a:r>
            <a:r>
              <a:rPr sz="2800" dirty="0"/>
              <a:t> </a:t>
            </a:r>
            <a:r>
              <a:rPr sz="2800" dirty="0" err="1"/>
              <a:t>та</a:t>
            </a:r>
            <a:r>
              <a:rPr sz="2800" dirty="0"/>
              <a:t> </a:t>
            </a:r>
            <a:r>
              <a:rPr sz="2800" dirty="0" err="1"/>
              <a:t>висновки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Результати</a:t>
            </a:r>
            <a:r>
              <a:rPr dirty="0"/>
              <a:t> </a:t>
            </a:r>
            <a:r>
              <a:rPr dirty="0" err="1"/>
              <a:t>реалізації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тестування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Модуль</a:t>
            </a:r>
            <a:r>
              <a:rPr dirty="0"/>
              <a:t> User &amp; Host </a:t>
            </a:r>
            <a:r>
              <a:rPr dirty="0" err="1"/>
              <a:t>повністю</a:t>
            </a:r>
            <a:r>
              <a:rPr dirty="0"/>
              <a:t> </a:t>
            </a:r>
            <a:r>
              <a:rPr dirty="0" err="1"/>
              <a:t>реалізовано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інтегровано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загальною</a:t>
            </a:r>
            <a:r>
              <a:rPr dirty="0"/>
              <a:t> </a:t>
            </a:r>
            <a:r>
              <a:rPr dirty="0" err="1"/>
              <a:t>системою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доставки</a:t>
            </a:r>
            <a:r>
              <a:rPr dirty="0"/>
              <a:t> OTP-</a:t>
            </a:r>
            <a:r>
              <a:rPr dirty="0" err="1"/>
              <a:t>кодів</a:t>
            </a:r>
            <a:r>
              <a:rPr dirty="0"/>
              <a:t> </a:t>
            </a:r>
            <a:r>
              <a:rPr dirty="0" err="1"/>
              <a:t>успішно</a:t>
            </a:r>
            <a:r>
              <a:rPr dirty="0"/>
              <a:t> </a:t>
            </a:r>
            <a:r>
              <a:rPr dirty="0" err="1"/>
              <a:t>інтегровано</a:t>
            </a:r>
            <a:r>
              <a:rPr dirty="0"/>
              <a:t> </a:t>
            </a:r>
            <a:r>
              <a:rPr dirty="0" err="1"/>
              <a:t>поштовий</a:t>
            </a:r>
            <a:r>
              <a:rPr dirty="0"/>
              <a:t> SMTP-</a:t>
            </a:r>
            <a:r>
              <a:rPr dirty="0" err="1"/>
              <a:t>сервер</a:t>
            </a:r>
            <a:r>
              <a:rPr dirty="0"/>
              <a:t> Brevo.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Розроблена</a:t>
            </a:r>
            <a:r>
              <a:rPr dirty="0"/>
              <a:t> </a:t>
            </a:r>
            <a:r>
              <a:rPr dirty="0" err="1"/>
              <a:t>архітектура</a:t>
            </a:r>
            <a:r>
              <a:rPr dirty="0"/>
              <a:t> </a:t>
            </a:r>
            <a:r>
              <a:rPr dirty="0" err="1"/>
              <a:t>забезпечує</a:t>
            </a:r>
            <a:r>
              <a:rPr dirty="0"/>
              <a:t> </a:t>
            </a:r>
            <a:r>
              <a:rPr dirty="0" err="1"/>
              <a:t>високу</a:t>
            </a:r>
            <a:r>
              <a:rPr dirty="0"/>
              <a:t> </a:t>
            </a:r>
            <a:r>
              <a:rPr dirty="0" err="1"/>
              <a:t>масштабованість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гнучкість</a:t>
            </a:r>
            <a:r>
              <a:rPr dirty="0"/>
              <a:t> </a:t>
            </a:r>
            <a:r>
              <a:rPr dirty="0" err="1"/>
              <a:t>системи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Висновки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Розроблений</a:t>
            </a:r>
            <a:r>
              <a:rPr dirty="0"/>
              <a:t> </a:t>
            </a:r>
            <a:r>
              <a:rPr dirty="0" err="1"/>
              <a:t>модуль</a:t>
            </a:r>
            <a:r>
              <a:rPr dirty="0"/>
              <a:t> User &amp; Host </a:t>
            </a:r>
            <a:r>
              <a:rPr dirty="0" err="1"/>
              <a:t>повністю</a:t>
            </a:r>
            <a:r>
              <a:rPr dirty="0"/>
              <a:t> </a:t>
            </a:r>
            <a:r>
              <a:rPr dirty="0" err="1"/>
              <a:t>вирішує</a:t>
            </a:r>
            <a:r>
              <a:rPr dirty="0"/>
              <a:t> </a:t>
            </a:r>
            <a:r>
              <a:rPr dirty="0" err="1"/>
              <a:t>задачі</a:t>
            </a:r>
            <a:r>
              <a:rPr dirty="0"/>
              <a:t> </a:t>
            </a:r>
            <a:r>
              <a:rPr dirty="0" err="1"/>
              <a:t>безпечної</a:t>
            </a:r>
            <a:r>
              <a:rPr dirty="0"/>
              <a:t> </a:t>
            </a:r>
            <a:r>
              <a:rPr dirty="0" err="1"/>
              <a:t>автентифікації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ведення</a:t>
            </a:r>
            <a:r>
              <a:rPr dirty="0"/>
              <a:t> </a:t>
            </a:r>
            <a:r>
              <a:rPr dirty="0" err="1"/>
              <a:t>контенту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 з </a:t>
            </a:r>
            <a:r>
              <a:rPr dirty="0" err="1"/>
              <a:t>календарем</a:t>
            </a:r>
            <a:r>
              <a:rPr dirty="0"/>
              <a:t> </a:t>
            </a:r>
            <a:r>
              <a:rPr dirty="0" err="1"/>
              <a:t>доступності</a:t>
            </a:r>
            <a:r>
              <a:rPr dirty="0"/>
              <a:t>.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Спільна</a:t>
            </a:r>
            <a:r>
              <a:rPr dirty="0"/>
              <a:t> </a:t>
            </a:r>
            <a:r>
              <a:rPr dirty="0" err="1"/>
              <a:t>робота</a:t>
            </a:r>
            <a:r>
              <a:rPr dirty="0"/>
              <a:t> в </a:t>
            </a:r>
            <a:r>
              <a:rPr dirty="0" err="1"/>
              <a:t>команді</a:t>
            </a:r>
            <a:r>
              <a:rPr dirty="0"/>
              <a:t>: </a:t>
            </a:r>
            <a:r>
              <a:rPr dirty="0" err="1"/>
              <a:t>реалізовано</a:t>
            </a:r>
            <a:r>
              <a:rPr dirty="0"/>
              <a:t> </a:t>
            </a:r>
            <a:r>
              <a:rPr dirty="0" err="1"/>
              <a:t>чітку</a:t>
            </a:r>
            <a:r>
              <a:rPr dirty="0"/>
              <a:t> </a:t>
            </a:r>
            <a:r>
              <a:rPr dirty="0" err="1"/>
              <a:t>інтеграцію</a:t>
            </a:r>
            <a:r>
              <a:rPr dirty="0"/>
              <a:t> </a:t>
            </a:r>
            <a:r>
              <a:rPr dirty="0" err="1"/>
              <a:t>між</a:t>
            </a:r>
            <a:r>
              <a:rPr dirty="0"/>
              <a:t> </a:t>
            </a:r>
            <a:r>
              <a:rPr dirty="0" err="1"/>
              <a:t>модулем</a:t>
            </a:r>
            <a:r>
              <a:rPr dirty="0"/>
              <a:t> </a:t>
            </a:r>
            <a:r>
              <a:rPr dirty="0" err="1"/>
              <a:t>користувача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модулем</a:t>
            </a:r>
            <a:r>
              <a:rPr dirty="0"/>
              <a:t> </a:t>
            </a:r>
            <a:r>
              <a:rPr dirty="0" err="1"/>
              <a:t>пошуку</a:t>
            </a:r>
            <a:r>
              <a:rPr dirty="0"/>
              <a:t> й </a:t>
            </a:r>
            <a:r>
              <a:rPr dirty="0" err="1"/>
              <a:t>фінансів</a:t>
            </a:r>
            <a:r>
              <a:rPr dirty="0"/>
              <a:t> </a:t>
            </a:r>
            <a:r>
              <a:rPr dirty="0" err="1"/>
              <a:t>партнера</a:t>
            </a:r>
            <a:r>
              <a:rPr dirty="0"/>
              <a:t> (Д. </a:t>
            </a:r>
            <a:r>
              <a:rPr dirty="0" err="1"/>
              <a:t>Макарова</a:t>
            </a:r>
            <a:r>
              <a:rPr dirty="0"/>
              <a:t>).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24EC5530-DE5B-8FAA-F9AB-8BD2DBF19DB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648323-72E2-0267-10A0-2597ADBA20D3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872" y="360775"/>
            <a:ext cx="3779242" cy="3716212"/>
          </a:xfrm>
        </p:spPr>
        <p:txBody>
          <a:bodyPr>
            <a:normAutofit/>
          </a:bodyPr>
          <a:lstStyle/>
          <a:p>
            <a:r>
              <a:rPr sz="2800" dirty="0" err="1"/>
              <a:t>Дякую</a:t>
            </a:r>
            <a:r>
              <a:rPr sz="2800" dirty="0"/>
              <a:t> </a:t>
            </a:r>
            <a:r>
              <a:rPr sz="2800" dirty="0" err="1"/>
              <a:t>за</a:t>
            </a:r>
            <a:r>
              <a:rPr sz="2800" dirty="0"/>
              <a:t> </a:t>
            </a:r>
            <a:r>
              <a:rPr sz="2800" dirty="0" err="1"/>
              <a:t>увагу</a:t>
            </a:r>
            <a:r>
              <a:rPr sz="2800" dirty="0"/>
              <a:t>!</a:t>
            </a:r>
          </a:p>
          <a:p>
            <a:endParaRPr sz="2800" dirty="0"/>
          </a:p>
          <a:p>
            <a:r>
              <a:rPr sz="2800" dirty="0" err="1"/>
              <a:t>Вебмаркетплейс</a:t>
            </a:r>
            <a:r>
              <a:rPr sz="2800" dirty="0"/>
              <a:t> «Basik» </a:t>
            </a:r>
            <a:r>
              <a:rPr lang="uk-UA" sz="2800" dirty="0"/>
              <a:t>-</a:t>
            </a:r>
            <a:r>
              <a:rPr sz="2800" dirty="0"/>
              <a:t> </a:t>
            </a:r>
            <a:r>
              <a:rPr sz="2800" dirty="0" err="1"/>
              <a:t>простір</a:t>
            </a:r>
            <a:r>
              <a:rPr sz="2800" dirty="0"/>
              <a:t> </a:t>
            </a:r>
            <a:r>
              <a:rPr sz="2800" dirty="0" err="1"/>
              <a:t>для</a:t>
            </a:r>
            <a:r>
              <a:rPr sz="2800" dirty="0"/>
              <a:t> </a:t>
            </a:r>
            <a:r>
              <a:rPr sz="2800" dirty="0" err="1"/>
              <a:t>ваших</a:t>
            </a:r>
            <a:r>
              <a:rPr sz="2800" dirty="0"/>
              <a:t> </a:t>
            </a:r>
            <a:r>
              <a:rPr sz="2800" dirty="0" err="1"/>
              <a:t>ідей</a:t>
            </a:r>
            <a:r>
              <a:rPr sz="2800" dirty="0"/>
              <a:t>.</a:t>
            </a:r>
          </a:p>
          <a:p>
            <a:endParaRPr sz="2800" dirty="0"/>
          </a:p>
          <a:p>
            <a:r>
              <a:rPr sz="2800" dirty="0" err="1"/>
              <a:t>Доповідь</a:t>
            </a:r>
            <a:r>
              <a:rPr sz="2800" dirty="0"/>
              <a:t> </a:t>
            </a:r>
            <a:r>
              <a:rPr sz="2800" dirty="0" err="1"/>
              <a:t>закінчено</a:t>
            </a:r>
            <a:r>
              <a:rPr lang="uk-UA" sz="2800" dirty="0"/>
              <a:t>.</a:t>
            </a:r>
            <a:endParaRPr sz="2800" dirty="0"/>
          </a:p>
        </p:txBody>
      </p:sp>
      <p:pic>
        <p:nvPicPr>
          <p:cNvPr id="3" name="Google Shape;73;p14">
            <a:extLst>
              <a:ext uri="{FF2B5EF4-FFF2-40B4-BE49-F238E27FC236}">
                <a16:creationId xmlns:a16="http://schemas.microsoft.com/office/drawing/2014/main" id="{567F4F7C-C874-FB9A-D8C4-C24F3C18C1D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Marketplace - Free commerce icons">
            <a:extLst>
              <a:ext uri="{FF2B5EF4-FFF2-40B4-BE49-F238E27FC236}">
                <a16:creationId xmlns:a16="http://schemas.microsoft.com/office/drawing/2014/main" id="{D67D0852-4322-9B83-0F35-72BC40BE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967" y="1117647"/>
            <a:ext cx="2656831" cy="2656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B4057B-103A-5C4D-5717-BD645048B20E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1441</Words>
  <Application>Microsoft Office PowerPoint</Application>
  <PresentationFormat>On-screen Show (16:9)</PresentationFormat>
  <Paragraphs>205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Economica</vt:lpstr>
      <vt:lpstr>Open Sans</vt:lpstr>
      <vt:lpstr>Шаблон презентації кваліфікаційної роботи магістрів</vt:lpstr>
      <vt:lpstr>Вебмаркетплейс «Basik» для погодинної оренди приватних простір-локацій</vt:lpstr>
      <vt:lpstr>Постановка задачі: Мета та завдання</vt:lpstr>
      <vt:lpstr>Функціональні вимоги до модуля</vt:lpstr>
      <vt:lpstr>Архітектура створеного програмного забезпечення</vt:lpstr>
      <vt:lpstr>Схема розгортання та бази даних</vt:lpstr>
      <vt:lpstr>Приклад інтерфейсу. Сторінка входу</vt:lpstr>
      <vt:lpstr>Приклад інтерфейсу. Реєстрація користувача</vt:lpstr>
      <vt:lpstr>Приклад інтерфейсу. Сторінка профілю</vt:lpstr>
      <vt:lpstr>Приклад інтерфейсу. Додавання локації</vt:lpstr>
      <vt:lpstr>Приклад інтерфейсу. Керування оголошеннями</vt:lpstr>
      <vt:lpstr>Приклад інтерфейсу. Управління користувачами</vt:lpstr>
      <vt:lpstr>Тестування розробленого модуля</vt:lpstr>
      <vt:lpstr>Аналіз отриманих результатів</vt:lpstr>
      <vt:lpstr>Впровадження та висновки</vt:lpstr>
      <vt:lpstr>Дякую за увагу!  Вебмаркетплейс «Basik» - простір для ваших ідей.  Доповідь закінчено.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Олександр Куликов</cp:lastModifiedBy>
  <cp:revision>21</cp:revision>
  <dcterms:created xsi:type="dcterms:W3CDTF">2024-10-03T11:39:34Z</dcterms:created>
  <dcterms:modified xsi:type="dcterms:W3CDTF">2026-06-10T19:32:16Z</dcterms:modified>
</cp:coreProperties>
</file>